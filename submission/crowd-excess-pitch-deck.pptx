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ca5a04e89c04b9e" /><Relationship Type="http://schemas.openxmlformats.org/officeDocument/2006/relationships/extended-properties" Target="/docProps/app.xml" Id="R246f86034774412c" /><Relationship Type="http://schemas.openxmlformats.org/officeDocument/2006/relationships/officeDocument" Target="/ppt/presentation.xml" Id="R659bdb26b57d4bc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b6a9bce53be41ff"/>
  </p:sldMasterIdLst>
  <p:notesMasterIdLst>
    <p:notesMasterId xmlns:r="http://schemas.openxmlformats.org/officeDocument/2006/relationships" r:id="R3b810314f001430a"/>
  </p:notesMasterIdLst>
  <p:sldIdLst>
    <p:sldId xmlns:r="http://schemas.openxmlformats.org/officeDocument/2006/relationships" id="256" r:id="Rf716abeb72c142d9"/>
    <p:sldId xmlns:r="http://schemas.openxmlformats.org/officeDocument/2006/relationships" id="257" r:id="Rf9cda5a2d0034123"/>
    <p:sldId xmlns:r="http://schemas.openxmlformats.org/officeDocument/2006/relationships" id="258" r:id="Rf5221265cfb243d0"/>
    <p:sldId xmlns:r="http://schemas.openxmlformats.org/officeDocument/2006/relationships" id="259" r:id="R417b8576fbf24ea9"/>
    <p:sldId xmlns:r="http://schemas.openxmlformats.org/officeDocument/2006/relationships" id="260" r:id="R1c8cdd824963417d"/>
    <p:sldId xmlns:r="http://schemas.openxmlformats.org/officeDocument/2006/relationships" id="261" r:id="Rb49bf8dcb27a4310"/>
    <p:sldId xmlns:r="http://schemas.openxmlformats.org/officeDocument/2006/relationships" id="262" r:id="Rd5a1a2c3fb5b48d3"/>
    <p:sldId xmlns:r="http://schemas.openxmlformats.org/officeDocument/2006/relationships" id="263" r:id="R4bf52278710b473c"/>
    <p:sldId xmlns:r="http://schemas.openxmlformats.org/officeDocument/2006/relationships" id="264" r:id="Rb0fcf8ebd161455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f34dab038d04c54" /><Relationship Type="http://schemas.openxmlformats.org/officeDocument/2006/relationships/slideMaster" Target="/ppt/slideMasters/slideMaster1.xml" Id="Rcb6a9bce53be41ff" /><Relationship Type="http://schemas.openxmlformats.org/officeDocument/2006/relationships/notesMaster" Target="/ppt/notesMasters/notesMaster1.xml" Id="R3b810314f001430a" /><Relationship Type="http://schemas.openxmlformats.org/officeDocument/2006/relationships/presProps" Target="/ppt/presProps.xml" Id="Re090eb2b6e674c52" /><Relationship Type="http://schemas.openxmlformats.org/officeDocument/2006/relationships/tableStyles" Target="/ppt/tableStyles.xml" Id="R6d390fe4bfc840e5" /><Relationship Type="http://schemas.openxmlformats.org/officeDocument/2006/relationships/slide" Target="/ppt/slides/slide1.xml" Id="Rf716abeb72c142d9" /><Relationship Type="http://schemas.openxmlformats.org/officeDocument/2006/relationships/slide" Target="/ppt/slides/slide2.xml" Id="Rf9cda5a2d0034123" /><Relationship Type="http://schemas.openxmlformats.org/officeDocument/2006/relationships/slide" Target="/ppt/slides/slide3.xml" Id="Rf5221265cfb243d0" /><Relationship Type="http://schemas.openxmlformats.org/officeDocument/2006/relationships/slide" Target="/ppt/slides/slide4.xml" Id="R417b8576fbf24ea9" /><Relationship Type="http://schemas.openxmlformats.org/officeDocument/2006/relationships/slide" Target="/ppt/slides/slide5.xml" Id="R1c8cdd824963417d" /><Relationship Type="http://schemas.openxmlformats.org/officeDocument/2006/relationships/slide" Target="/ppt/slides/slide6.xml" Id="Rb49bf8dcb27a4310" /><Relationship Type="http://schemas.openxmlformats.org/officeDocument/2006/relationships/slide" Target="/ppt/slides/slide7.xml" Id="Rd5a1a2c3fb5b48d3" /><Relationship Type="http://schemas.openxmlformats.org/officeDocument/2006/relationships/slide" Target="/ppt/slides/slide8.xml" Id="R4bf52278710b473c" /><Relationship Type="http://schemas.openxmlformats.org/officeDocument/2006/relationships/slide" Target="/ppt/slides/slide9.xml" Id="Rb0fcf8ebd161455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d4b82259be54b6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75126d11a5044d3" /><Relationship Type="http://schemas.openxmlformats.org/officeDocument/2006/relationships/notesMaster" Target="/ppt/notesMasters/notesMaster1.xml" Id="Rf68b460186fc466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6b6f0dfe89e41ae" /><Relationship Type="http://schemas.openxmlformats.org/officeDocument/2006/relationships/notesMaster" Target="/ppt/notesMasters/notesMaster1.xml" Id="R771b2943931e4d6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6e9cd305b32473f" /><Relationship Type="http://schemas.openxmlformats.org/officeDocument/2006/relationships/notesMaster" Target="/ppt/notesMasters/notesMaster1.xml" Id="R161ab47a975d470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b6a3abf175c44c2" /><Relationship Type="http://schemas.openxmlformats.org/officeDocument/2006/relationships/notesMaster" Target="/ppt/notesMasters/notesMaster1.xml" Id="Rd86037055f43423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c65acaf54cc47cc" /><Relationship Type="http://schemas.openxmlformats.org/officeDocument/2006/relationships/notesMaster" Target="/ppt/notesMasters/notesMaster1.xml" Id="R5d02878168ff414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1b4c1f2200f4ec8" /><Relationship Type="http://schemas.openxmlformats.org/officeDocument/2006/relationships/notesMaster" Target="/ppt/notesMasters/notesMaster1.xml" Id="R3e66398a1f504a3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72ae33a4c0a4541" /><Relationship Type="http://schemas.openxmlformats.org/officeDocument/2006/relationships/notesMaster" Target="/ppt/notesMasters/notesMaster1.xml" Id="Rd95673be61694fa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d9f14e1536f4a98" /><Relationship Type="http://schemas.openxmlformats.org/officeDocument/2006/relationships/notesMaster" Target="/ppt/notesMasters/notesMaster1.xml" Id="Re185a2029b3e4bc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1d0c39e2f304c15" /><Relationship Type="http://schemas.openxmlformats.org/officeDocument/2006/relationships/notesMaster" Target="/ppt/notesMasters/notesMaster1.xml" Id="R1d7d4933a783439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thesis in one sentence. Stress that this is a paper-only agent and that risk—not the model—owns execution.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https://lablab.ai/ai-hackathons/alpaca-ai-trading-agents-hackathon</a:t>
            </a:r>
          </a:p>
          <a:p xmlns:a="http://schemas.openxmlformats.org/drawingml/2006/main">
            <a:r>
              <a:t>- https://crowd-excess-lab.vercel.app/agent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the insight as a measurable residual. Avoid claiming that attention alone predicts returns.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https://crowd-excess-lab.vercel.app/strategy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State the limitation before the advantage: NAVER is relative attention, not post sentiment. Explain that OpenAI is evidence-only.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https://guide.ncloud-docs.com/docs/apihub-searchtrend</a:t>
            </a:r>
          </a:p>
          <a:p xmlns:a="http://schemas.openxmlformats.org/drawingml/2006/main">
            <a:r>
              <a:t>- https://docs.alpaca.markets/us/docs/paper-trading</a:t>
            </a:r>
          </a:p>
          <a:p xmlns:a="http://schemas.openxmlformats.org/drawingml/2006/main">
            <a:r>
              <a:t>- https://developers.openai.com/api/reference/cli/resources/responses/methods/create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right. Emphasize that a large residual is only a candidate; risk still has veto power.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https://crowd-excess-lab.vercel.app/strategy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live Vercel application. Point out that visitors can inspect but cannot trigger scans or orders.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https://crowd-excess-lab.vercel.app/agent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that the strategy can make no trade. Explain deterministic client IDs and timeout reconciliation.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https://docs.alpaca.markets/us/docs/options-trading</a:t>
            </a:r>
          </a:p>
          <a:p xmlns:a="http://schemas.openxmlformats.org/drawingml/2006/main">
            <a:r>
              <a:t>- https://github.com/Kachii1020/crowd-excess-lab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 explicit: this is real infrastructure evidence but not a trading result. Never imply P&amp;L exists yet.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https://crowd-excess-lab.vercel.app/agent/runs/20260828T095104Z-cabc99f1</a:t>
            </a:r>
          </a:p>
          <a:p xmlns:a="http://schemas.openxmlformats.org/drawingml/2006/main">
            <a:r>
              <a:t>- https://docs.alpaca.markets/us/docs/paper-trading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Connect resilience to judge trust. Mention the public interface has GET-only projections and zero order controls.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https://github.com/Kachii1020/crowd-excess-lab</a:t>
            </a:r>
          </a:p>
          <a:p xmlns:a="http://schemas.openxmlformats.org/drawingml/2006/main">
            <a:r>
              <a:t>- https://crowd-excess-lab.vercel.app/lineage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the evidence plan. The system is ready; the remaining uncertainty is market behavior, not infrastructure.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https://lablab.ai/ai-hackathons/alpaca-ai-trading-agents-hackathon</a:t>
            </a:r>
          </a:p>
          <a:p xmlns:a="http://schemas.openxmlformats.org/drawingml/2006/main">
            <a:r>
              <a:t>- https://crowd-excess-lab.vercel.app/agent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c12db7e13a483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a2ac124c09c486a" /><Relationship Type="http://schemas.openxmlformats.org/officeDocument/2006/relationships/slideLayout" Target="/ppt/slideLayouts/slideLayout1.xml" Id="R7ae40b8d1928446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ae40b8d1928446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1ff4d9f7ea46c9" /><Relationship Type="http://schemas.openxmlformats.org/officeDocument/2006/relationships/image" Target="/ppt/media/image.png" Id="Rb4aa693ee5144f39" /><Relationship Type="http://schemas.openxmlformats.org/officeDocument/2006/relationships/notesSlide" Target="/ppt/notesSlides/notesSlide1.xml" Id="Rda8a04458f5a42b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703a1e66a1471c" /><Relationship Type="http://schemas.openxmlformats.org/officeDocument/2006/relationships/notesSlide" Target="/ppt/notesSlides/notesSlide2.xml" Id="Rc5429fcc3d78483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807d6a8e8f4d98" /><Relationship Type="http://schemas.openxmlformats.org/officeDocument/2006/relationships/notesSlide" Target="/ppt/notesSlides/notesSlide3.xml" Id="Re51b8fff66e1479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a6c4cfe56e4a45" /><Relationship Type="http://schemas.openxmlformats.org/officeDocument/2006/relationships/notesSlide" Target="/ppt/notesSlides/notesSlide4.xml" Id="R8d0d4bd9da29438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61d75a5f144b14" /><Relationship Type="http://schemas.openxmlformats.org/officeDocument/2006/relationships/image" Target="/ppt/media/image2.png" Id="R43f5ec3a31f94103" /><Relationship Type="http://schemas.openxmlformats.org/officeDocument/2006/relationships/notesSlide" Target="/ppt/notesSlides/notesSlide5.xml" Id="R51fde36f610848a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61fe65f2214040" /><Relationship Type="http://schemas.openxmlformats.org/officeDocument/2006/relationships/notesSlide" Target="/ppt/notesSlides/notesSlide6.xml" Id="R39325a6e1e9241d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26ac5b47ed4711" /><Relationship Type="http://schemas.openxmlformats.org/officeDocument/2006/relationships/notesSlide" Target="/ppt/notesSlides/notesSlide7.xml" Id="Rc2de90328b5f420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093e52078d4d7b" /><Relationship Type="http://schemas.openxmlformats.org/officeDocument/2006/relationships/image" Target="/ppt/media/image3.png" Id="R272207bb79264ed7" /><Relationship Type="http://schemas.openxmlformats.org/officeDocument/2006/relationships/notesSlide" Target="/ppt/notesSlides/notesSlide8.xml" Id="R83b80cfd1bc045e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b4417bc39246bc" /><Relationship Type="http://schemas.openxmlformats.org/officeDocument/2006/relationships/notesSlide" Target="/ppt/notesSlides/notesSlide9.xml" Id="R2937ef65a682468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aa693ee5144f39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013647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24E060-2201-47B5-B988-508746468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47A46"/>
                </a:solidFill>
              </a:defRPr>
            </a:pPr>
            <a:r>
              <a:rPr sz="1050" b="1">
                <a:solidFill>
                  <a:srgbClr val="147A46"/>
                </a:solidFill>
              </a:rPr>
              <a:t>THE THESIS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6C6245-081A-4FDC-A554-F23BF3F96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72019"/>
                </a:solidFill>
              </a:defRPr>
            </a:pPr>
            <a:r>
              <a:rPr sz="3300" b="1">
                <a:solidFill>
                  <a:srgbClr val="172019"/>
                </a:solidFill>
              </a:rPr>
              <a:t>Markets can be loud. Evidence can be quiet.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1FBDCE-C491-474F-A8BC-C2B2DCE05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8736D"/>
                </a:solidFill>
              </a:defRPr>
            </a:pPr>
            <a:r>
              <a:rPr sz="1425" b="0">
                <a:solidFill>
                  <a:srgbClr val="68736D"/>
                </a:solidFill>
              </a:rPr>
              <a:t>The opportunity is the unexplained gap—not raw sentiment.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3722B0-B13A-4664-88BE-9C988BB39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180D3E-E8E2-410B-AB4F-B8E4466DE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238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8736D"/>
                </a:solidFill>
              </a:defRPr>
            </a:pPr>
            <a:r>
              <a:rPr sz="975" b="1">
                <a:solidFill>
                  <a:srgbClr val="68736D"/>
                </a:solidFill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0F0AFF-EBD8-4EF1-AE29-879035A7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8736D"/>
                </a:solidFill>
              </a:defRPr>
            </a:pPr>
            <a:r>
              <a:rPr sz="825" b="1">
                <a:solidFill>
                  <a:srgbClr val="68736D"/>
                </a:solidFill>
              </a:rPr>
              <a:t>CROWD EXCESS AGENT  /  ALPACA PAPER OPTIONS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01F906-50F3-43CC-A93A-610681A1A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7A46"/>
                </a:solidFill>
              </a:defRPr>
            </a:pPr>
            <a:r>
              <a:rPr sz="1350" b="1">
                <a:solidFill>
                  <a:srgbClr val="147A46"/>
                </a:solidFill>
              </a:rPr>
              <a:t>ATTENTION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9D1054-0713-459D-99CD-BBE22FA6E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2415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019"/>
                </a:solidFill>
              </a:defRPr>
            </a:pPr>
            <a:r>
              <a:rPr sz="2100" b="1">
                <a:solidFill>
                  <a:srgbClr val="172019"/>
                </a:solidFill>
              </a:rPr>
              <a:t>moves first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58F16B-7F65-4803-A2FD-95EE0B6D6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147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29A95"/>
                </a:solidFill>
              </a:defRPr>
            </a:pPr>
            <a:r>
              <a:rPr sz="1350" b="1">
                <a:solidFill>
                  <a:srgbClr val="929A95"/>
                </a:solidFill>
              </a:rPr>
              <a:t>EVIDENCE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BF4C36-9956-4394-A5DE-8EC32A658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5765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019"/>
                </a:solidFill>
              </a:defRPr>
            </a:pPr>
            <a:r>
              <a:rPr sz="2100" b="1">
                <a:solidFill>
                  <a:srgbClr val="172019"/>
                </a:solidFill>
              </a:rPr>
              <a:t>explains—or fails 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7451B8-E4B4-45B7-BFEA-34BDF3C4B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143250"/>
            <a:ext cx="590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29A9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958963-514F-42D6-808C-3178A29C0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781300"/>
            <a:ext cx="219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47A4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5FB7BB-D487-4751-AEDF-11D4C60C8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571750"/>
            <a:ext cx="171450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47A4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938C53-63C3-41CA-B6C5-4AB9AA8FF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38375"/>
            <a:ext cx="2381250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47A4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E89185-209B-4057-B89D-4E3A957A1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0500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147A46"/>
                </a:solidFill>
              </a:defRPr>
            </a:pPr>
            <a:r>
              <a:rPr sz="1650" b="1">
                <a:solidFill>
                  <a:srgbClr val="147A46"/>
                </a:solidFill>
              </a:rPr>
              <a:t>CROWD EXCESS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9A3E24-E41D-45A5-9D43-4143369F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714750"/>
            <a:ext cx="6572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19"/>
                </a:solidFill>
              </a:defRPr>
            </a:pPr>
            <a:r>
              <a:rPr sz="1800" b="0">
                <a:solidFill>
                  <a:srgbClr val="172019"/>
                </a:solidFill>
              </a:rPr>
              <a:t>The agent trades only when attention + price outrun objective news and every deterministic gate passes.</a:t>
            </a:r>
          </a:p>
        </p:txBody>
      </p:sp>
    </p:spTree>
    <p:extLst>
      <p:ext uri="{BB962C8B-B14F-4D97-AF65-F5344CB8AC3E}">
        <p14:creationId xmlns:p14="http://schemas.microsoft.com/office/powerpoint/2010/main" val="52429208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8DE350-94D1-4284-816E-F78F89C2A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47A46"/>
                </a:solidFill>
              </a:defRPr>
            </a:pPr>
            <a:r>
              <a:rPr sz="1050" b="1">
                <a:solidFill>
                  <a:srgbClr val="147A46"/>
                </a:solidFill>
              </a:rPr>
              <a:t>AN HONEST DATA BOUNDARY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79F74A-8F4A-4C24-BD16-F61F84AB1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72019"/>
                </a:solidFill>
              </a:defRPr>
            </a:pPr>
            <a:r>
              <a:rPr sz="3300" b="1">
                <a:solidFill>
                  <a:srgbClr val="172019"/>
                </a:solidFill>
              </a:rPr>
              <a:t>Three sources. Three distinct jobs.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B9B3C3-809D-4D34-940A-98DE15DED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8736D"/>
                </a:solidFill>
              </a:defRPr>
            </a:pPr>
            <a:r>
              <a:rPr sz="1425" b="0">
                <a:solidFill>
                  <a:srgbClr val="68736D"/>
                </a:solidFill>
              </a:rPr>
              <a:t>Search attention is a proxy—not community sentiment.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5EA12A-3B90-4BEA-96F4-2B920A7B7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A3CEE5-A9B0-4FF1-A364-EE8BCF6AF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238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8736D"/>
                </a:solidFill>
              </a:defRPr>
            </a:pPr>
            <a:r>
              <a:rPr sz="975" b="1">
                <a:solidFill>
                  <a:srgbClr val="68736D"/>
                </a:solidFill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B36BA3-3984-410B-AECD-C06C45DF9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8736D"/>
                </a:solidFill>
              </a:defRPr>
            </a:pPr>
            <a:r>
              <a:rPr sz="825" b="1">
                <a:solidFill>
                  <a:srgbClr val="68736D"/>
                </a:solidFill>
              </a:rPr>
              <a:t>CROWD EXCESS AGENT  /  ALPACA PAPER OPTIONS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21B4F7-FBD2-4FC6-9947-D17E275DB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52650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7A46"/>
                </a:solidFill>
              </a:defRPr>
            </a:pPr>
            <a:r>
              <a:rPr sz="2550" b="1">
                <a:solidFill>
                  <a:srgbClr val="147A46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2227B6-A2B0-46DB-A993-04701FD7C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019"/>
                </a:solidFill>
              </a:defRPr>
            </a:pPr>
            <a:r>
              <a:rPr sz="2100" b="1">
                <a:solidFill>
                  <a:srgbClr val="172019"/>
                </a:solidFill>
              </a:rPr>
              <a:t>NAVER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CC374C-F8D6-4B22-9BA9-A59B34DB0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14700"/>
            <a:ext cx="28575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8736D"/>
                </a:solidFill>
              </a:defRPr>
            </a:pPr>
            <a:r>
              <a:rPr sz="1425" b="0">
                <a:solidFill>
                  <a:srgbClr val="68736D"/>
                </a:solidFill>
              </a:rPr>
              <a:t>Complete-day cross-border search attention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68736D"/>
                </a:solidFill>
              </a:defRPr>
            </a:pPr>
            <a:r>
              <a:rPr sz="1425" b="0">
                <a:solidFill>
                  <a:srgbClr val="68736D"/>
                </a:solidFill>
              </a:rPr>
              <a:t>Recent mean vs trailing median</a:t>
            </a:r>
          </a:p>
          <a:p xmlns:a="http://schemas.openxmlformats.org/drawingml/2006/main">
            <a:pPr algn="l">
              <a:defRPr sz="1425" b="0">
                <a:solidFill>
                  <a:srgbClr val="68736D"/>
                </a:solidFill>
              </a:defRPr>
            </a:pPr>
            <a:r>
              <a:rPr sz="1425" b="0">
                <a:solidFill>
                  <a:srgbClr val="68736D"/>
                </a:solidFill>
              </a:rPr>
              <a:t>60-day robust z-score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D869EA-E013-4294-A290-E91114E36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152650"/>
            <a:ext cx="0" cy="3333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1DCAFF-FF7B-4C48-A236-48D1B769A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152650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7A46"/>
                </a:solidFill>
              </a:defRPr>
            </a:pPr>
            <a:r>
              <a:rPr sz="2550" b="1">
                <a:solidFill>
                  <a:srgbClr val="147A46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60040A-7E94-4BF6-B0D8-3D8D2E374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74320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019"/>
                </a:solidFill>
              </a:defRPr>
            </a:pPr>
            <a:r>
              <a:rPr sz="2100" b="1">
                <a:solidFill>
                  <a:srgbClr val="172019"/>
                </a:solidFill>
              </a:rPr>
              <a:t>ALPACA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41CA1D-4B47-43D6-B366-32A1EF1F5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314700"/>
            <a:ext cx="28575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8736D"/>
                </a:solidFill>
              </a:defRPr>
            </a:pPr>
            <a:r>
              <a:rPr sz="1425" b="0">
                <a:solidFill>
                  <a:srgbClr val="68736D"/>
                </a:solidFill>
              </a:rPr>
              <a:t>SPY-adjusted move, volume, news and option-chain liquidity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68736D"/>
                </a:solidFill>
              </a:defRPr>
            </a:pPr>
            <a:r>
              <a:rPr sz="1425" b="0">
                <a:solidFill>
                  <a:srgbClr val="68736D"/>
                </a:solidFill>
              </a:rPr>
              <a:t>Official paper account + CLI boundary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B4C305-769E-464A-9A9F-2B93ADB35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152650"/>
            <a:ext cx="0" cy="3333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3BC932-120C-4CED-A5DF-971083B5A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52650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7A46"/>
                </a:solidFill>
              </a:defRPr>
            </a:pPr>
            <a:r>
              <a:rPr sz="2550" b="1">
                <a:solidFill>
                  <a:srgbClr val="147A46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2BD0AE-0529-4F17-B4FC-0E3232051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74320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019"/>
                </a:solidFill>
              </a:defRPr>
            </a:pPr>
            <a:r>
              <a:rPr sz="2100" b="1">
                <a:solidFill>
                  <a:srgbClr val="172019"/>
                </a:solidFill>
              </a:rPr>
              <a:t>OPENAI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6CC6A0-66C7-4574-B92C-57EF7FAB0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314700"/>
            <a:ext cx="28575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8736D"/>
                </a:solidFill>
              </a:defRPr>
            </a:pPr>
            <a:r>
              <a:rPr sz="1425" b="0">
                <a:solidFill>
                  <a:srgbClr val="68736D"/>
                </a:solidFill>
              </a:rPr>
              <a:t>Strict EvidenceAssessment only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68736D"/>
                </a:solidFill>
              </a:defRPr>
            </a:pPr>
            <a:r>
              <a:rPr sz="1425" b="0">
                <a:solidFill>
                  <a:srgbClr val="68736D"/>
                </a:solidFill>
              </a:rPr>
              <a:t>Direction · materiality · confidence</a:t>
            </a:r>
          </a:p>
          <a:p xmlns:a="http://schemas.openxmlformats.org/drawingml/2006/main">
            <a:pPr algn="l">
              <a:defRPr sz="1425" b="0">
                <a:solidFill>
                  <a:srgbClr val="68736D"/>
                </a:solidFill>
              </a:defRPr>
            </a:pPr>
            <a:r>
              <a:rPr sz="1425" b="0">
                <a:solidFill>
                  <a:srgbClr val="68736D"/>
                </a:solidFill>
              </a:rPr>
              <a:t>Never contracts, size or orders</a:t>
            </a:r>
          </a:p>
        </p:txBody>
      </p:sp>
    </p:spTree>
    <p:extLst>
      <p:ext uri="{BB962C8B-B14F-4D97-AF65-F5344CB8AC3E}">
        <p14:creationId xmlns:p14="http://schemas.microsoft.com/office/powerpoint/2010/main" val="11746015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6FAA50-FB88-47B0-A0BF-8F7E7C0E7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47A46"/>
                </a:solidFill>
              </a:defRPr>
            </a:pPr>
            <a:r>
              <a:rPr sz="1050" b="1">
                <a:solidFill>
                  <a:srgbClr val="147A46"/>
                </a:solidFill>
              </a:rPr>
              <a:t>THE SIGNAL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7CF078-8DE9-4606-9EC0-6B5C9C841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72019"/>
                </a:solidFill>
              </a:defRPr>
            </a:pPr>
            <a:r>
              <a:rPr sz="3300" b="1">
                <a:solidFill>
                  <a:srgbClr val="172019"/>
                </a:solidFill>
              </a:rPr>
              <a:t>The trade is the residual—not the headline.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336BDE-0B7C-4E5E-908D-E48DF4B16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6D6143-0A9A-4536-855D-771216BB9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238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8736D"/>
                </a:solidFill>
              </a:defRPr>
            </a:pPr>
            <a:r>
              <a:rPr sz="975" b="1">
                <a:solidFill>
                  <a:srgbClr val="68736D"/>
                </a:solidFill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AEFE18-8DFA-4EDA-9AAF-35AD10E82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8736D"/>
                </a:solidFill>
              </a:defRPr>
            </a:pPr>
            <a:r>
              <a:rPr sz="825" b="1">
                <a:solidFill>
                  <a:srgbClr val="68736D"/>
                </a:solidFill>
              </a:rPr>
              <a:t>CROWD EXCESS AGENT  /  ALPACA PAPER OPTIONS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B2505A-066B-45DB-9F5E-F1DFDEC6B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05050"/>
            <a:ext cx="3714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7A46"/>
                </a:solidFill>
              </a:defRPr>
            </a:pPr>
            <a:r>
              <a:rPr sz="2550" b="1">
                <a:solidFill>
                  <a:srgbClr val="147A46"/>
                </a:solidFill>
              </a:rPr>
              <a:t>CROWD EXCESS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6E62CD-7853-43E1-8CAF-974ED8173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324100"/>
            <a:ext cx="400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68736D"/>
                </a:solidFill>
              </a:defRPr>
            </a:pPr>
            <a:r>
              <a:rPr sz="2850" b="1">
                <a:solidFill>
                  <a:srgbClr val="68736D"/>
                </a:solidFill>
              </a:rPr>
              <a:t>=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AAE34D-6566-46AC-982E-FF42AED92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114550"/>
            <a:ext cx="609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019"/>
                </a:solidFill>
              </a:defRPr>
            </a:pPr>
            <a:r>
              <a:rPr sz="2550" b="1">
                <a:solidFill>
                  <a:srgbClr val="172019"/>
                </a:solidFill>
              </a:rPr>
              <a:t>SIGNED MOVE × ATTENTION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D6446E-D137-48E6-9637-7BAC44954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781300"/>
            <a:ext cx="609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8736D"/>
                </a:solidFill>
              </a:defRPr>
            </a:pPr>
            <a:r>
              <a:rPr sz="1875" b="0">
                <a:solidFill>
                  <a:srgbClr val="68736D"/>
                </a:solidFill>
              </a:rPr>
              <a:t>−  NEWS DIRECTION × MATERIALITY × CONFIDENCE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C64CA0-79F4-4EA3-8DD6-72372EBEE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38550"/>
            <a:ext cx="1047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0AABCA-3A51-4971-9C24-AC2C848E5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005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47A46"/>
                </a:solidFill>
              </a:defRPr>
            </a:pPr>
            <a:r>
              <a:rPr sz="1275" b="1">
                <a:solidFill>
                  <a:srgbClr val="147A46"/>
                </a:solidFill>
              </a:rPr>
              <a:t>POSITIVE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63EAE6-DCB4-485B-ABA7-7F1F093CB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62450"/>
            <a:ext cx="4476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19"/>
                </a:solidFill>
              </a:defRPr>
            </a:pPr>
            <a:r>
              <a:rPr sz="1650" b="0">
                <a:solidFill>
                  <a:srgbClr val="172019"/>
                </a:solidFill>
              </a:rPr>
              <a:t>Upside enthusiasm looks excessive → bearish reversal candidate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68FC1D-ED6C-47BE-9534-6FEBA9DE9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005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55900"/>
                </a:solidFill>
              </a:defRPr>
            </a:pPr>
            <a:r>
              <a:rPr sz="1275" b="1">
                <a:solidFill>
                  <a:srgbClr val="855900"/>
                </a:solidFill>
              </a:rPr>
              <a:t>NEGATIVE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AD8764-2382-49CC-A7AF-362AC8263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62450"/>
            <a:ext cx="4667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19"/>
                </a:solidFill>
              </a:defRPr>
            </a:pPr>
            <a:r>
              <a:rPr sz="1650" b="0">
                <a:solidFill>
                  <a:srgbClr val="172019"/>
                </a:solidFill>
              </a:rPr>
              <a:t>Downside pessimism looks excessive → bullish reversal candidate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78A33A-20E9-4F48-BD74-E3CC132CC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62600"/>
            <a:ext cx="952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7A46"/>
                </a:solidFill>
              </a:defRPr>
            </a:pPr>
            <a:r>
              <a:rPr sz="1500" b="1">
                <a:solidFill>
                  <a:srgbClr val="147A46"/>
                </a:solidFill>
              </a:rPr>
              <a:t>The model explains evidence. Deterministic code decides eligibility.</a:t>
            </a:r>
          </a:p>
        </p:txBody>
      </p:sp>
    </p:spTree>
    <p:extLst>
      <p:ext uri="{BB962C8B-B14F-4D97-AF65-F5344CB8AC3E}">
        <p14:creationId xmlns:p14="http://schemas.microsoft.com/office/powerpoint/2010/main" val="139587317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DD764B-99EF-4409-9C6F-8D62B0F9C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47A46"/>
                </a:solidFill>
              </a:defRPr>
            </a:pPr>
            <a:r>
              <a:rPr sz="1050" b="1">
                <a:solidFill>
                  <a:srgbClr val="147A46"/>
                </a:solidFill>
              </a:rPr>
              <a:t>THE PRODUCT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26C2AA-DD53-4A20-B08F-F853F1C82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72019"/>
                </a:solidFill>
              </a:defRPr>
            </a:pPr>
            <a:r>
              <a:rPr sz="3300" b="1">
                <a:solidFill>
                  <a:srgbClr val="172019"/>
                </a:solidFill>
              </a:rPr>
              <a:t>One screen makes the entire decision inspectable.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5F38E7-D107-46B0-9C58-57D54636B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48B0C7-EB0E-47DF-BB2E-4C72A0305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238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8736D"/>
                </a:solidFill>
              </a:defRPr>
            </a:pPr>
            <a:r>
              <a:rPr sz="975" b="1">
                <a:solidFill>
                  <a:srgbClr val="68736D"/>
                </a:solidFill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A0F53B-DE7C-444B-8636-4874B9CFD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8736D"/>
                </a:solidFill>
              </a:defRPr>
            </a:pPr>
            <a:r>
              <a:rPr sz="825" b="1">
                <a:solidFill>
                  <a:srgbClr val="68736D"/>
                </a:solidFill>
              </a:rPr>
              <a:t>CROWD EXCESS AGENT  /  ALPACA PAPER OPTIONS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f5ec3a31f94103"/>
          <a:stretch xmlns:a="http://schemas.openxmlformats.org/drawingml/2006/main"/>
        </p:blipFill>
        <p:spPr>
          <a:xfrm xmlns:a="http://schemas.openxmlformats.org/drawingml/2006/main">
            <a:off x="1409700" y="1952625"/>
            <a:ext cx="6781800" cy="4238625"/>
          </a:xfrm>
          <a:prstGeom xmlns:a="http://schemas.openxmlformats.org/drawingml/2006/main" prst="roundRect">
            <a:avLst>
              <a:gd name="adj" fmla="val 2247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2581B4-55B9-4367-8D93-18AC4C8D5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209800"/>
            <a:ext cx="66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47A46"/>
                </a:solidFill>
              </a:defRPr>
            </a:pPr>
            <a:r>
              <a:rPr sz="2100" b="1">
                <a:solidFill>
                  <a:srgbClr val="147A46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EC3DA5-8FE3-43ED-B376-732E3C23C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619375"/>
            <a:ext cx="2190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19"/>
                </a:solidFill>
              </a:defRPr>
            </a:pPr>
            <a:r>
              <a:rPr sz="1575" b="1">
                <a:solidFill>
                  <a:srgbClr val="172019"/>
                </a:solidFill>
              </a:rPr>
              <a:t>Run tape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CA39C9-56BA-4A44-BADA-A94488F87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276600"/>
            <a:ext cx="66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47A46"/>
                </a:solidFill>
              </a:defRPr>
            </a:pPr>
            <a:r>
              <a:rPr sz="2100" b="1">
                <a:solidFill>
                  <a:srgbClr val="147A46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2FEF8C-7B90-49F5-8B2A-A9DF0AEA3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686175"/>
            <a:ext cx="2190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19"/>
                </a:solidFill>
              </a:defRPr>
            </a:pPr>
            <a:r>
              <a:rPr sz="1575" b="1">
                <a:solidFill>
                  <a:srgbClr val="172019"/>
                </a:solidFill>
              </a:rPr>
              <a:t>Signal matrix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74E498-7053-4B2A-8345-7A42D5A5B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343400"/>
            <a:ext cx="66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47A46"/>
                </a:solidFill>
              </a:defRPr>
            </a:pPr>
            <a:r>
              <a:rPr sz="2100" b="1">
                <a:solidFill>
                  <a:srgbClr val="147A46"/>
                </a:solidFill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3A919C-129A-4279-BB33-911586D07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752975"/>
            <a:ext cx="2190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19"/>
                </a:solidFill>
              </a:defRPr>
            </a:pPr>
            <a:r>
              <a:rPr sz="1575" b="1">
                <a:solidFill>
                  <a:srgbClr val="172019"/>
                </a:solidFill>
              </a:rPr>
              <a:t>Evidence → risk → receipt</a:t>
            </a:r>
          </a:p>
        </p:txBody>
      </p:sp>
    </p:spTree>
    <p:extLst>
      <p:ext uri="{BB962C8B-B14F-4D97-AF65-F5344CB8AC3E}">
        <p14:creationId xmlns:p14="http://schemas.microsoft.com/office/powerpoint/2010/main" val="106356475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37D402-4149-4B13-A547-4EEE4FEE4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47A46"/>
                </a:solidFill>
              </a:defRPr>
            </a:pPr>
            <a:r>
              <a:rPr sz="1050" b="1">
                <a:solidFill>
                  <a:srgbClr val="147A46"/>
                </a:solidFill>
              </a:rPr>
              <a:t>EXECUTION AUTHORITY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F609DC-F2E4-41C2-AFD0-6A47D843B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72019"/>
                </a:solidFill>
              </a:defRPr>
            </a:pPr>
            <a:r>
              <a:rPr sz="3300" b="1">
                <a:solidFill>
                  <a:srgbClr val="172019"/>
                </a:solidFill>
              </a:rPr>
              <a:t>Risk owns the order. The model never does.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D9EF6E-6F34-4195-87DA-C03EB1843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1C3029-EE9E-4476-9D3B-4F1862E26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238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8736D"/>
                </a:solidFill>
              </a:defRPr>
            </a:pPr>
            <a:r>
              <a:rPr sz="975" b="1">
                <a:solidFill>
                  <a:srgbClr val="68736D"/>
                </a:solidFill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101417-FB23-4489-95DB-7E4866DBB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8736D"/>
                </a:solidFill>
              </a:defRPr>
            </a:pPr>
            <a:r>
              <a:rPr sz="825" b="1">
                <a:solidFill>
                  <a:srgbClr val="68736D"/>
                </a:solidFill>
              </a:rPr>
              <a:t>CROWD EXCESS AGENT  /  ALPACA PAPER OPTIONS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377183-3E9A-45BC-ACC5-EE730765A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62200"/>
            <a:ext cx="2095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47A46"/>
                </a:solidFill>
              </a:defRPr>
            </a:pPr>
            <a:r>
              <a:rPr sz="4050" b="1">
                <a:solidFill>
                  <a:srgbClr val="147A46"/>
                </a:solidFill>
              </a:rPr>
              <a:t>1%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63BE45-217B-4F53-892F-BDE3A25CA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385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19"/>
                </a:solidFill>
              </a:defRPr>
            </a:pPr>
            <a:r>
              <a:rPr sz="1200" b="1">
                <a:solidFill>
                  <a:srgbClr val="172019"/>
                </a:solidFill>
              </a:rPr>
              <a:t>MAX DEBIT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AD26EB-A3A0-4F06-BA00-6C0A86261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814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36D"/>
                </a:solidFill>
              </a:defRPr>
            </a:pPr>
            <a:r>
              <a:rPr sz="1275" b="0">
                <a:solidFill>
                  <a:srgbClr val="68736D"/>
                </a:solidFill>
              </a:rPr>
              <a:t>per position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2F6B91-A61A-4A81-8FF7-C9AA75DEC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62200"/>
            <a:ext cx="2095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47A46"/>
                </a:solidFill>
              </a:defRPr>
            </a:pPr>
            <a:r>
              <a:rPr sz="4050" b="1">
                <a:solidFill>
                  <a:srgbClr val="147A46"/>
                </a:solidFill>
              </a:rPr>
              <a:t>3%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04DC11-DF12-4E6D-B20F-A70A3DD64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2385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19"/>
                </a:solidFill>
              </a:defRPr>
            </a:pPr>
            <a:r>
              <a:rPr sz="1200" b="1">
                <a:solidFill>
                  <a:srgbClr val="172019"/>
                </a:solidFill>
              </a:rPr>
              <a:t>TOTAL RISK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D3CFB4-E89F-42EB-BADB-51DC25599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5814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36D"/>
                </a:solidFill>
              </a:defRPr>
            </a:pPr>
            <a:r>
              <a:rPr sz="1275" b="0">
                <a:solidFill>
                  <a:srgbClr val="68736D"/>
                </a:solidFill>
              </a:rPr>
              <a:t>open premium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955975-01AA-41FE-842B-44AEA9F95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62200"/>
            <a:ext cx="2095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47A46"/>
                </a:solidFill>
              </a:defRPr>
            </a:pPr>
            <a:r>
              <a:rPr sz="4050" b="1">
                <a:solidFill>
                  <a:srgbClr val="147A46"/>
                </a:solidFill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7C63C7-19ED-498C-B81E-BA794C700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2385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19"/>
                </a:solidFill>
              </a:defRPr>
            </a:pPr>
            <a:r>
              <a:rPr sz="1200" b="1">
                <a:solidFill>
                  <a:srgbClr val="172019"/>
                </a:solidFill>
              </a:rPr>
              <a:t>NEW ATTEMPT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BF5BBD-BBE1-4091-89B9-6CB943BE9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5814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36D"/>
                </a:solidFill>
              </a:defRPr>
            </a:pPr>
            <a:r>
              <a:rPr sz="1275" b="0">
                <a:solidFill>
                  <a:srgbClr val="68736D"/>
                </a:solidFill>
              </a:rPr>
              <a:t>per trading day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84A837-59AC-4449-B272-8CA55C163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362200"/>
            <a:ext cx="2095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47A46"/>
                </a:solidFill>
              </a:defRPr>
            </a:pPr>
            <a:r>
              <a:rPr sz="4050" b="1">
                <a:solidFill>
                  <a:srgbClr val="147A46"/>
                </a:solidFill>
              </a:rPr>
              <a:t>14–30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4BEE42-350D-450E-870B-B6A62E520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2385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19"/>
                </a:solidFill>
              </a:defRPr>
            </a:pPr>
            <a:r>
              <a:rPr sz="1200" b="1">
                <a:solidFill>
                  <a:srgbClr val="172019"/>
                </a:solidFill>
              </a:rPr>
              <a:t>DTE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5C275D-7AB7-473C-88A4-1D840FAA8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5814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36D"/>
                </a:solidFill>
              </a:defRPr>
            </a:pPr>
            <a:r>
              <a:rPr sz="1275" b="0">
                <a:solidFill>
                  <a:srgbClr val="68736D"/>
                </a:solidFill>
              </a:rPr>
              <a:t>defined-risk vertical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FA0FD1-5634-46DF-856D-CA2C7C243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71950"/>
            <a:ext cx="1057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5DAC97-A9C5-4A11-8301-F79D2FF0A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101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19"/>
                </a:solidFill>
              </a:defRPr>
            </a:pPr>
            <a:r>
              <a:rPr sz="1575" b="1">
                <a:solidFill>
                  <a:srgbClr val="172019"/>
                </a:solidFill>
              </a:rPr>
              <a:t>NO LIVE ENDPOINT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165E90-B5A3-4659-B136-3599620E9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6101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19"/>
                </a:solidFill>
              </a:defRPr>
            </a:pPr>
            <a:r>
              <a:rPr sz="1575" b="1">
                <a:solidFill>
                  <a:srgbClr val="172019"/>
                </a:solidFill>
              </a:rPr>
              <a:t>NO NAKED OPTIONS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0418D25-5FB4-4783-AE9A-D3C75D757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6101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19"/>
                </a:solidFill>
              </a:defRPr>
            </a:pPr>
            <a:r>
              <a:rPr sz="1575" b="1">
                <a:solidFill>
                  <a:srgbClr val="172019"/>
                </a:solidFill>
              </a:rPr>
              <a:t>NO DUPLICATE RETRY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8BA414-027A-4C07-8EEF-51385DC5C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149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8736D"/>
                </a:solidFill>
              </a:defRPr>
            </a:pPr>
            <a:r>
              <a:rPr sz="1575" b="0">
                <a:solidFill>
                  <a:srgbClr val="68736D"/>
                </a:solidFill>
              </a:rPr>
              <a:t>Wide quotes, missing Greeks, stale data, account mismatch, loss limits or freeze time → ABSTAIN.</a:t>
            </a:r>
          </a:p>
        </p:txBody>
      </p:sp>
    </p:spTree>
    <p:extLst>
      <p:ext uri="{BB962C8B-B14F-4D97-AF65-F5344CB8AC3E}">
        <p14:creationId xmlns:p14="http://schemas.microsoft.com/office/powerpoint/2010/main" val="22253715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3F7E12-355D-4005-85B8-63AB261E4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47A46"/>
                </a:solidFill>
              </a:defRPr>
            </a:pPr>
            <a:r>
              <a:rPr sz="1050" b="1">
                <a:solidFill>
                  <a:srgbClr val="147A46"/>
                </a:solidFill>
              </a:rPr>
              <a:t>VERIFIED RESULT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9AD9A0-F036-47A3-B01B-7A0B5E6E3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72019"/>
                </a:solidFill>
              </a:defRPr>
            </a:pPr>
            <a:r>
              <a:rPr sz="3300" b="1">
                <a:solidFill>
                  <a:srgbClr val="172019"/>
                </a:solidFill>
              </a:rPr>
              <a:t>The first real result was a safe no-trade.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866F67-5BFB-4DCD-BF01-29FB57193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8736D"/>
                </a:solidFill>
              </a:defRPr>
            </a:pPr>
            <a:r>
              <a:rPr sz="1425" b="0">
                <a:solidFill>
                  <a:srgbClr val="68736D"/>
                </a:solidFill>
              </a:rPr>
              <a:t>Pre-kickoff infrastructure verification · not competition P&amp;L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D48473-9E3F-4FCB-98DF-800678EEC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BE4F9B-ADBC-4373-A2E7-D5FA9DF8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238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8736D"/>
                </a:solidFill>
              </a:defRPr>
            </a:pPr>
            <a:r>
              <a:rPr sz="975" b="1">
                <a:solidFill>
                  <a:srgbClr val="68736D"/>
                </a:solidFill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75B45F-FBEE-449E-B933-3653DE62D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8736D"/>
                </a:solidFill>
              </a:defRPr>
            </a:pPr>
            <a:r>
              <a:rPr sz="825" b="1">
                <a:solidFill>
                  <a:srgbClr val="68736D"/>
                </a:solidFill>
              </a:rPr>
              <a:t>CROWD EXCESS AGENT  /  ALPACA PAPER OPTIONS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95D6CE-B74D-47CF-92E8-EDAF8D565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43150"/>
            <a:ext cx="4953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855900"/>
                </a:solidFill>
              </a:defRPr>
            </a:pPr>
            <a:r>
              <a:rPr sz="4350" b="1">
                <a:solidFill>
                  <a:srgbClr val="855900"/>
                </a:solidFill>
              </a:rPr>
              <a:t>ABSTAINED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E7D22B-F4DA-4E98-AFEE-CCC7F5025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00400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19"/>
                </a:solidFill>
              </a:defRPr>
            </a:pPr>
            <a:r>
              <a:rPr sz="1800" b="1">
                <a:solidFill>
                  <a:srgbClr val="172019"/>
                </a:solidFill>
              </a:rPr>
              <a:t>Market clock closed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AB59F7-A195-4529-9B60-4F23DE436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766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8736D"/>
                </a:solidFill>
              </a:defRPr>
            </a:pPr>
            <a:r>
              <a:rPr sz="1575" b="0">
                <a:solidFill>
                  <a:srgbClr val="68736D"/>
                </a:solidFill>
              </a:rPr>
              <a:t>No scan. No order. No fabricated signal.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7D3662-D85D-402E-8549-29AD85170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190750"/>
            <a:ext cx="45720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FFBC14-8BC7-450E-8E91-BA49D27C7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47650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47A46"/>
                </a:solidFill>
              </a:defRPr>
            </a:pPr>
            <a:r>
              <a:rPr sz="3600" b="1">
                <a:solidFill>
                  <a:srgbClr val="147A46"/>
                </a:solidFill>
              </a:rPr>
              <a:t>$100,000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EC6B05-C9E5-4553-9AC2-4FB48773C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1432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19"/>
                </a:solidFill>
              </a:defRPr>
            </a:pPr>
            <a:r>
              <a:rPr sz="1275" b="1">
                <a:solidFill>
                  <a:srgbClr val="172019"/>
                </a:solidFill>
              </a:rPr>
              <a:t>ACTIVE ALPACA PAPER ACCOUNT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B5EDD5-8542-4CC8-A3B6-CDB29453C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6385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736D"/>
                </a:solidFill>
              </a:defRPr>
            </a:pPr>
            <a:r>
              <a:rPr sz="1200" b="0">
                <a:solidFill>
                  <a:srgbClr val="68736D"/>
                </a:solidFill>
              </a:rPr>
              <a:t>Run 20260828T095104Z-cabc99f1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EACDEC-9A89-48A5-B2BD-1F5496027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048125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47A46"/>
                </a:solidFill>
              </a:defRPr>
            </a:pPr>
            <a:r>
              <a:rPr sz="1275" b="1">
                <a:solidFill>
                  <a:srgbClr val="147A46"/>
                </a:solidFill>
              </a:rPr>
              <a:t>Append-only public trace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2EC97B-AA88-4ED6-B6A1-79E86A0A7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3875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19"/>
                </a:solidFill>
              </a:defRPr>
            </a:pPr>
            <a:r>
              <a:rPr sz="1650" b="1">
                <a:solidFill>
                  <a:srgbClr val="172019"/>
                </a:solidFill>
              </a:rPr>
              <a:t>Market-open receipt and P&amp;L will replace this proof point only after real execution.</a:t>
            </a:r>
          </a:p>
        </p:txBody>
      </p:sp>
    </p:spTree>
    <p:extLst>
      <p:ext uri="{BB962C8B-B14F-4D97-AF65-F5344CB8AC3E}">
        <p14:creationId xmlns:p14="http://schemas.microsoft.com/office/powerpoint/2010/main" val="132896613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582F92-5768-47BF-9BDA-1C166011C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47A46"/>
                </a:solidFill>
              </a:defRPr>
            </a:pPr>
            <a:r>
              <a:rPr sz="1050" b="1">
                <a:solidFill>
                  <a:srgbClr val="147A46"/>
                </a:solidFill>
              </a:rPr>
              <a:t>RELIABILITY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0C5107-263E-47A2-8C9B-9C92528B7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72019"/>
                </a:solidFill>
              </a:defRPr>
            </a:pPr>
            <a:r>
              <a:rPr sz="3300" b="1">
                <a:solidFill>
                  <a:srgbClr val="172019"/>
                </a:solidFill>
              </a:rPr>
              <a:t>Failure safety is part of the strategy.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A7F67F-C439-4689-8471-8CB9E3126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CF374B-B093-48DE-97C4-5DBCB96F3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238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8736D"/>
                </a:solidFill>
              </a:defRPr>
            </a:pPr>
            <a:r>
              <a:rPr sz="975" b="1">
                <a:solidFill>
                  <a:srgbClr val="68736D"/>
                </a:solidFill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2B4AD6-725E-4F9C-B175-1EBEE4774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8736D"/>
                </a:solidFill>
              </a:defRPr>
            </a:pPr>
            <a:r>
              <a:rPr sz="825" b="1">
                <a:solidFill>
                  <a:srgbClr val="68736D"/>
                </a:solidFill>
              </a:rPr>
              <a:t>CROWD EXCESS AGENT  /  ALPACA PAPER OPTIONS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3C0108-F4BE-4A78-96CB-B2DD3CCDA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47900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7A46"/>
                </a:solidFill>
              </a:defRPr>
            </a:pPr>
            <a:r>
              <a:rPr sz="1500" b="1">
                <a:solidFill>
                  <a:srgbClr val="147A46"/>
                </a:solidFill>
              </a:rPr>
              <a:t>IDEMPOTENT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3EAA9A-0847-455C-B073-8C35A7050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289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19"/>
                </a:solidFill>
              </a:defRPr>
            </a:pPr>
            <a:r>
              <a:rPr sz="1650" b="0">
                <a:solidFill>
                  <a:srgbClr val="172019"/>
                </a:solidFill>
              </a:rPr>
              <a:t>Timeout → lookup by client_order_id → never blind retry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4FADE1-7C64-4585-8C2E-73D5C2550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48050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7A46"/>
                </a:solidFill>
              </a:defRPr>
            </a:pPr>
            <a:r>
              <a:rPr sz="1500" b="1">
                <a:solidFill>
                  <a:srgbClr val="147A46"/>
                </a:solidFill>
              </a:rPr>
              <a:t>APPEND-ONLY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357422-84D3-4679-9F27-5D376E0E6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2905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19"/>
                </a:solidFill>
              </a:defRPr>
            </a:pPr>
            <a:r>
              <a:rPr sz="1650" b="0">
                <a:solidFill>
                  <a:srgbClr val="172019"/>
                </a:solidFill>
              </a:rPr>
              <a:t>Service-role writes · anonymous reads · update/delete blocked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12DA43-7F6A-4483-B300-07B547778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48200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7A46"/>
                </a:solidFill>
              </a:defRPr>
            </a:pPr>
            <a:r>
              <a:rPr sz="1500" b="1">
                <a:solidFill>
                  <a:srgbClr val="147A46"/>
                </a:solidFill>
              </a:rPr>
              <a:t>FAIL-CLOSED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8B24BF-D49C-4F2E-BFCF-85A31639F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29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19"/>
                </a:solidFill>
              </a:defRPr>
            </a:pPr>
            <a:r>
              <a:rPr sz="1650" b="0">
                <a:solidFill>
                  <a:srgbClr val="172019"/>
                </a:solidFill>
              </a:rPr>
              <a:t>Invalid model output, stale market data or missing liquidity → ABSTAIN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2207bb79264ed7"/>
          <a:stretch xmlns:a="http://schemas.openxmlformats.org/drawingml/2006/main"/>
        </p:blipFill>
        <p:spPr>
          <a:xfrm xmlns:a="http://schemas.openxmlformats.org/drawingml/2006/main">
            <a:off x="8106068" y="1962150"/>
            <a:ext cx="1980613" cy="4286250"/>
          </a:xfrm>
          <a:prstGeom xmlns:a="http://schemas.openxmlformats.org/drawingml/2006/main" prst="roundRect">
            <a:avLst>
              <a:gd name="adj" fmla="val 4103"/>
            </a:avLst>
          </a:prstGeom>
        </p:spPr>
      </p:pic>
    </p:spTree>
    <p:extLst>
      <p:ext uri="{BB962C8B-B14F-4D97-AF65-F5344CB8AC3E}">
        <p14:creationId xmlns:p14="http://schemas.microsoft.com/office/powerpoint/2010/main" val="160173855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EE111D-8276-4982-88FA-5F15C1C22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47A46"/>
                </a:solidFill>
              </a:defRPr>
            </a:pPr>
            <a:r>
              <a:rPr sz="1050" b="1">
                <a:solidFill>
                  <a:srgbClr val="147A46"/>
                </a:solidFill>
              </a:rPr>
              <a:t>WHAT COMES NEXT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976A12-2A94-4E22-9571-202601909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72019"/>
                </a:solidFill>
              </a:defRPr>
            </a:pPr>
            <a:r>
              <a:rPr sz="3300" b="1">
                <a:solidFill>
                  <a:srgbClr val="172019"/>
                </a:solidFill>
              </a:rPr>
              <a:t>Market-open proof—not prettier mockups.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48EA8E-23E6-467F-9865-C3F91FB5D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AB0837-6055-4ACB-96E6-3ABA206B2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238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8736D"/>
                </a:solidFill>
              </a:defRPr>
            </a:pPr>
            <a:r>
              <a:rPr sz="975" b="1">
                <a:solidFill>
                  <a:srgbClr val="68736D"/>
                </a:solidFill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735789-D1E7-4E27-9A8B-F38BE74A3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8736D"/>
                </a:solidFill>
              </a:defRPr>
            </a:pPr>
            <a:r>
              <a:rPr sz="825" b="1">
                <a:solidFill>
                  <a:srgbClr val="68736D"/>
                </a:solidFill>
              </a:rPr>
              <a:t>CROWD EXCESS AGENT  /  ALPACA PAPER OPTIONS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BC5C68-CDF6-4F78-806F-E90F4DE76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47900"/>
            <a:ext cx="60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47A46"/>
                </a:solidFill>
              </a:defRPr>
            </a:pPr>
            <a:r>
              <a:rPr sz="2250" b="1">
                <a:solidFill>
                  <a:srgbClr val="147A46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536B0C-2ED4-401F-87F6-6B139B7D4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247900"/>
            <a:ext cx="685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019"/>
                </a:solidFill>
              </a:defRPr>
            </a:pPr>
            <a:r>
              <a:rPr sz="1875" b="1">
                <a:solidFill>
                  <a:srgbClr val="172019"/>
                </a:solidFill>
              </a:rPr>
              <a:t>Full 5-symbol shadow trace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57CB27-FCB4-4970-B372-564537335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05150"/>
            <a:ext cx="60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47A46"/>
                </a:solidFill>
              </a:defRPr>
            </a:pPr>
            <a:r>
              <a:rPr sz="2250" b="1">
                <a:solidFill>
                  <a:srgbClr val="147A46"/>
                </a:solidFill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F7BDA1-6E7D-4FC6-B444-F7E419013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105150"/>
            <a:ext cx="685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019"/>
                </a:solidFill>
              </a:defRPr>
            </a:pPr>
            <a:r>
              <a:rPr sz="1875" b="1">
                <a:solidFill>
                  <a:srgbClr val="172019"/>
                </a:solidFill>
              </a:rPr>
              <a:t>One independently revalidated paper spread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71EB64-156F-4EAD-BE11-0FA469E1F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62400"/>
            <a:ext cx="60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47A46"/>
                </a:solidFill>
              </a:defRPr>
            </a:pPr>
            <a:r>
              <a:rPr sz="2250" b="1">
                <a:solidFill>
                  <a:srgbClr val="147A46"/>
                </a:solidFill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E282D1-E0FB-4F01-82B9-826E19086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962400"/>
            <a:ext cx="685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019"/>
                </a:solidFill>
              </a:defRPr>
            </a:pPr>
            <a:r>
              <a:rPr sz="1875" b="1">
                <a:solidFill>
                  <a:srgbClr val="172019"/>
                </a:solidFill>
              </a:rPr>
              <a:t>Two sessions with honest P&amp;L and drawdown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6D4712-2AC3-4940-B414-C4D5F6703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3754B9-E9B6-4B1F-B25F-256DC141E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006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8736D"/>
                </a:solidFill>
              </a:defRPr>
            </a:pPr>
            <a:r>
              <a:rPr sz="1125" b="1">
                <a:solidFill>
                  <a:srgbClr val="68736D"/>
                </a:solidFill>
              </a:rPr>
              <a:t>P&amp;L PERFORMANCE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3BE7B5-DF46-4AFF-8960-11F8138C7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2006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8736D"/>
                </a:solidFill>
              </a:defRPr>
            </a:pPr>
            <a:r>
              <a:rPr sz="1125" b="1">
                <a:solidFill>
                  <a:srgbClr val="68736D"/>
                </a:solidFill>
              </a:rPr>
              <a:t>TECHNOLOGY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D2C376-EA64-47FD-B330-78AAEAE8F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52006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8736D"/>
                </a:solidFill>
              </a:defRPr>
            </a:pPr>
            <a:r>
              <a:rPr sz="1125" b="1">
                <a:solidFill>
                  <a:srgbClr val="68736D"/>
                </a:solidFill>
              </a:rPr>
              <a:t>ORIGINALITY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520EAD-2E1B-42B3-AA9B-9544B6D1A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52006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8736D"/>
                </a:solidFill>
              </a:defRPr>
            </a:pPr>
            <a:r>
              <a:rPr sz="1125" b="1">
                <a:solidFill>
                  <a:srgbClr val="68736D"/>
                </a:solidFill>
              </a:rPr>
              <a:t>EXECUTION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D4A589-D2CA-4955-BCE5-F9FE49A3C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86450"/>
            <a:ext cx="723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47A46"/>
                </a:solidFill>
              </a:defRPr>
            </a:pPr>
            <a:r>
              <a:rPr sz="1800" b="1">
                <a:solidFill>
                  <a:srgbClr val="147A46"/>
                </a:solidFill>
              </a:rPr>
              <a:t>crowd-excess-lab.vercel.app</a:t>
            </a:r>
          </a:p>
        </p:txBody>
      </p:sp>
    </p:spTree>
    <p:extLst>
      <p:ext uri="{BB962C8B-B14F-4D97-AF65-F5344CB8AC3E}">
        <p14:creationId xmlns:p14="http://schemas.microsoft.com/office/powerpoint/2010/main" val="16547601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2026-08-28T10:42:10.4610000Z</dcterms:created>
  <dcterms:modified xsi:type="dcterms:W3CDTF">2026-08-28T10:42:10.4610000Z</dcterms:modified>
</coreProperties>
</file>
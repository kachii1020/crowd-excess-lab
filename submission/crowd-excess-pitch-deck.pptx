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f567c241940e1" /><Relationship Type="http://schemas.openxmlformats.org/officeDocument/2006/relationships/extended-properties" Target="/docProps/app.xml" Id="R7cd83329d49047a0" /><Relationship Type="http://schemas.openxmlformats.org/officeDocument/2006/relationships/officeDocument" Target="/ppt/presentation.xml" Id="R61e373cc5339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0ffb1d9674cd8"/>
  </p:sldMasterIdLst>
  <p:notesMasterIdLst>
    <p:notesMasterId xmlns:r="http://schemas.openxmlformats.org/officeDocument/2006/relationships" r:id="R2e2ea286462441c5"/>
  </p:notesMasterIdLst>
  <p:sldIdLst>
    <p:sldId xmlns:r="http://schemas.openxmlformats.org/officeDocument/2006/relationships" id="256" r:id="Rcae13656bcf346e2"/>
    <p:sldId xmlns:r="http://schemas.openxmlformats.org/officeDocument/2006/relationships" id="257" r:id="R17b0e00ced264159"/>
    <p:sldId xmlns:r="http://schemas.openxmlformats.org/officeDocument/2006/relationships" id="258" r:id="R6eb9e4336c984b42"/>
    <p:sldId xmlns:r="http://schemas.openxmlformats.org/officeDocument/2006/relationships" id="259" r:id="R1351bff6e9c845bb"/>
    <p:sldId xmlns:r="http://schemas.openxmlformats.org/officeDocument/2006/relationships" id="260" r:id="R29caf77aee9c4e4a"/>
    <p:sldId xmlns:r="http://schemas.openxmlformats.org/officeDocument/2006/relationships" id="261" r:id="R2debbf20699a4eae"/>
    <p:sldId xmlns:r="http://schemas.openxmlformats.org/officeDocument/2006/relationships" id="262" r:id="R8df5ae963e744614"/>
    <p:sldId xmlns:r="http://schemas.openxmlformats.org/officeDocument/2006/relationships" id="263" r:id="R84d97d1297d941fc"/>
    <p:sldId xmlns:r="http://schemas.openxmlformats.org/officeDocument/2006/relationships" id="264" r:id="R38168b604df644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3d7ed2d5f41b9" /><Relationship Type="http://schemas.openxmlformats.org/officeDocument/2006/relationships/slideMaster" Target="/ppt/slideMasters/slideMaster1.xml" Id="Ra410ffb1d9674cd8" /><Relationship Type="http://schemas.openxmlformats.org/officeDocument/2006/relationships/notesMaster" Target="/ppt/notesMasters/notesMaster1.xml" Id="R2e2ea286462441c5" /><Relationship Type="http://schemas.openxmlformats.org/officeDocument/2006/relationships/presProps" Target="/ppt/presProps.xml" Id="Ref43407286b34ce1" /><Relationship Type="http://schemas.openxmlformats.org/officeDocument/2006/relationships/tableStyles" Target="/ppt/tableStyles.xml" Id="Rde5d5d83dcca4dcf" /><Relationship Type="http://schemas.openxmlformats.org/officeDocument/2006/relationships/slide" Target="/ppt/slides/slide1.xml" Id="Rcae13656bcf346e2" /><Relationship Type="http://schemas.openxmlformats.org/officeDocument/2006/relationships/slide" Target="/ppt/slides/slide2.xml" Id="R17b0e00ced264159" /><Relationship Type="http://schemas.openxmlformats.org/officeDocument/2006/relationships/slide" Target="/ppt/slides/slide3.xml" Id="R6eb9e4336c984b42" /><Relationship Type="http://schemas.openxmlformats.org/officeDocument/2006/relationships/slide" Target="/ppt/slides/slide4.xml" Id="R1351bff6e9c845bb" /><Relationship Type="http://schemas.openxmlformats.org/officeDocument/2006/relationships/slide" Target="/ppt/slides/slide5.xml" Id="R29caf77aee9c4e4a" /><Relationship Type="http://schemas.openxmlformats.org/officeDocument/2006/relationships/slide" Target="/ppt/slides/slide6.xml" Id="R2debbf20699a4eae" /><Relationship Type="http://schemas.openxmlformats.org/officeDocument/2006/relationships/slide" Target="/ppt/slides/slide7.xml" Id="R8df5ae963e744614" /><Relationship Type="http://schemas.openxmlformats.org/officeDocument/2006/relationships/slide" Target="/ppt/slides/slide8.xml" Id="R84d97d1297d941fc" /><Relationship Type="http://schemas.openxmlformats.org/officeDocument/2006/relationships/slide" Target="/ppt/slides/slide9.xml" Id="R38168b604df6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55fef4c31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d6f09596244fca" /><Relationship Type="http://schemas.openxmlformats.org/officeDocument/2006/relationships/notesMaster" Target="/ppt/notesMasters/notesMaster1.xml" Id="R4bb7b32d74774d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7e9651d374fd6" /><Relationship Type="http://schemas.openxmlformats.org/officeDocument/2006/relationships/notesMaster" Target="/ppt/notesMasters/notesMaster1.xml" Id="Rf03198ea3ed94f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4a9b620b5405f" /><Relationship Type="http://schemas.openxmlformats.org/officeDocument/2006/relationships/notesMaster" Target="/ppt/notesMasters/notesMaster1.xml" Id="Rf2f69043281e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43acd120924b07" /><Relationship Type="http://schemas.openxmlformats.org/officeDocument/2006/relationships/notesMaster" Target="/ppt/notesMasters/notesMaster1.xml" Id="R9298eda3055845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8c6746f5d4f16" /><Relationship Type="http://schemas.openxmlformats.org/officeDocument/2006/relationships/notesMaster" Target="/ppt/notesMasters/notesMaster1.xml" Id="Raf1b9bb7d98a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1d7c9e2464cd4" /><Relationship Type="http://schemas.openxmlformats.org/officeDocument/2006/relationships/notesMaster" Target="/ppt/notesMasters/notesMaster1.xml" Id="R4745935cd9eb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a03cd71e24b92" /><Relationship Type="http://schemas.openxmlformats.org/officeDocument/2006/relationships/notesMaster" Target="/ppt/notesMasters/notesMaster1.xml" Id="R33b49df0d8f4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1c065f80554611" /><Relationship Type="http://schemas.openxmlformats.org/officeDocument/2006/relationships/notesMaster" Target="/ppt/notesMasters/notesMaster1.xml" Id="R573d046ec98345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da5b9faeae4ad0" /><Relationship Type="http://schemas.openxmlformats.org/officeDocument/2006/relationships/notesMaster" Target="/ppt/notesMasters/notesMaster1.xml" Id="Rb639b01ffa50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 in one sentence. Stress that this is a paper-only agent and that risk—not the model—owns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- https://crowd-excess-lab.vercel.app/agent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insight as a measurable residual. Avoid claiming that attention alone predicts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https://crowd-excess-lab.vercel.app/strategy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limitation before the advantage: NAVER is relative attention, not post sentiment. Explain that OpenAI is evidence-only.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https://guide.ncloud-docs.com/docs/apihub-searchtrend</a:t>
            </a:r>
          </a:p>
          <a:p xmlns:a="http://schemas.openxmlformats.org/drawingml/2006/main">
            <a:r>
              <a:t>- https://docs.alpaca.markets/us/docs/paper-trading</a:t>
            </a:r>
          </a:p>
          <a:p xmlns:a="http://schemas.openxmlformats.org/drawingml/2006/main">
            <a:r>
              <a:t>- https://developers.openai.com/api/reference/cli/resources/responses/methods/create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a large residual is only a candidate; risk still has veto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https://crowd-excess-lab.vercel.app/strategy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product-first public Overview. The primary action pins the latest sampled immutable run instead of the newer closed-market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https://crowd-excess-lab.vercel.app/agent</a:t>
            </a:r>
          </a:p>
          <a:p xmlns:a="http://schemas.openxmlformats.org/drawingml/2006/main">
            <a:r>
              <a:t>- https://crowd-excess-lab.vercel.app/decisions?run=20260828T193701Z-b404b62a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strategy can make no trade. Explain deterministic client IDs and timeout reconciliation.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https://docs.alpaca.markets/us/docs/options-trading</a:t>
            </a:r>
          </a:p>
          <a:p xmlns:a="http://schemas.openxmlformats.org/drawingml/2006/main">
            <a:r>
              <a:t>- https://github.com/Kachii1020/crowd-excess-lab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 market-open runs recorded 35 signal snapshots. Thirty snapshots contain OpenAI response IDs and input hashes; the first five are fail-closed evidence-unavailable records, not model assessments.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https://crowd-excess-lab.vercel.app/api/v1/agent/runs/20260828T150454Z-85f0a128</a:t>
            </a:r>
          </a:p>
          <a:p xmlns:a="http://schemas.openxmlformats.org/drawingml/2006/main">
            <a:r>
              <a:t>- https://crowd-excess-lab.vercel.app/api/v1/agent/runs/20260828T161149Z-04953e31</a:t>
            </a:r>
          </a:p>
          <a:p xmlns:a="http://schemas.openxmlformats.org/drawingml/2006/main">
            <a:r>
              <a:t>- https://crowd-excess-lab.vercel.app/api/v1/agent/runs/20260828T174442Z-d761e38b</a:t>
            </a:r>
          </a:p>
          <a:p xmlns:a="http://schemas.openxmlformats.org/drawingml/2006/main">
            <a:r>
              <a:t>- https://crowd-excess-lab.vercel.app/api/v1/agent/runs/20260828T181028Z-2ca98cc2</a:t>
            </a:r>
          </a:p>
          <a:p xmlns:a="http://schemas.openxmlformats.org/drawingml/2006/main">
            <a:r>
              <a:t>- https://crowd-excess-lab.vercel.app/api/v1/agent/runs/20260828T183549Z-4a24409b</a:t>
            </a:r>
          </a:p>
          <a:p xmlns:a="http://schemas.openxmlformats.org/drawingml/2006/main">
            <a:r>
              <a:t>- https://crowd-excess-lab.vercel.app/api/v1/agent/runs/20260828T191143Z-73974777</a:t>
            </a:r>
          </a:p>
          <a:p xmlns:a="http://schemas.openxmlformats.org/drawingml/2006/main">
            <a:r>
              <a:t>- https://crowd-excess-lab.vercel.app/api/v1/agent/runs/20260828T193701Z-b404b62a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new provider-boundary failures record sanitized stage/code diagnostics; this historical failure row predates those nullable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https://github.com/Kachii1020/crowd-excess-lab</a:t>
            </a:r>
          </a:p>
          <a:p xmlns:a="http://schemas.openxmlformats.org/drawingml/2006/main">
            <a:r>
              <a:t>- https://docs.github.com/en/actions/reference/workflows-and-actions/events-that-trigger-workflows#schedule</a:t>
            </a:r>
          </a:p>
          <a:p xmlns:a="http://schemas.openxmlformats.org/drawingml/2006/main">
            <a:r>
              <a:t>- https://crowd-excess-lab.vercel.app/agent/runs/20260828T174442Z-d761e38b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user value: inspectability before exposure and reproducible abstention when evidence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- https://crowd-excess-lab.vercel.app/strategy</a:t>
            </a:r>
          </a:p>
          <a:p xmlns:a="http://schemas.openxmlformats.org/drawingml/2006/main">
            <a:r>
              <a:t>- https://crowd-excess-lab.vercel.app/research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a40d9d714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5f1f0c0654a26" /><Relationship Type="http://schemas.openxmlformats.org/officeDocument/2006/relationships/slideLayout" Target="/ppt/slideLayouts/slideLayout1.xml" Id="Re16a1967690f40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a1967690f40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91fedc6bd4289" /><Relationship Type="http://schemas.openxmlformats.org/officeDocument/2006/relationships/image" Target="/ppt/media/image.png" Id="R90c84d34d3a54e56" /><Relationship Type="http://schemas.openxmlformats.org/officeDocument/2006/relationships/notesSlide" Target="/ppt/notesSlides/notesSlide1.xml" Id="Rc54835731f1c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530d9e1e74e00" /><Relationship Type="http://schemas.openxmlformats.org/officeDocument/2006/relationships/notesSlide" Target="/ppt/notesSlides/notesSlide2.xml" Id="R40594a00af2842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ff5f0856949e6" /><Relationship Type="http://schemas.openxmlformats.org/officeDocument/2006/relationships/notesSlide" Target="/ppt/notesSlides/notesSlide3.xml" Id="R78d2c4e32f2f41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d573e23884b87" /><Relationship Type="http://schemas.openxmlformats.org/officeDocument/2006/relationships/notesSlide" Target="/ppt/notesSlides/notesSlide4.xml" Id="Re9e2f9dcc194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9002a7fc43d2" /><Relationship Type="http://schemas.openxmlformats.org/officeDocument/2006/relationships/image" Target="/ppt/media/image2.png" Id="Rceef3592ec9e424f" /><Relationship Type="http://schemas.openxmlformats.org/officeDocument/2006/relationships/notesSlide" Target="/ppt/notesSlides/notesSlide5.xml" Id="R7a973aad3205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1e73ca7304880" /><Relationship Type="http://schemas.openxmlformats.org/officeDocument/2006/relationships/notesSlide" Target="/ppt/notesSlides/notesSlide6.xml" Id="R6e0a0282dc2944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9b583b00d432c" /><Relationship Type="http://schemas.openxmlformats.org/officeDocument/2006/relationships/notesSlide" Target="/ppt/notesSlides/notesSlide7.xml" Id="R9bafde4ba982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9a824f23f4225" /><Relationship Type="http://schemas.openxmlformats.org/officeDocument/2006/relationships/image" Target="/ppt/media/image3.png" Id="Raa61f7c527894282" /><Relationship Type="http://schemas.openxmlformats.org/officeDocument/2006/relationships/notesSlide" Target="/ppt/notesSlides/notesSlide8.xml" Id="R1143a73e56504c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6e452374468f" /><Relationship Type="http://schemas.openxmlformats.org/officeDocument/2006/relationships/notesSlide" Target="/ppt/notesSlides/notesSlide9.xml" Id="Rae6c548e2a2c4c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84d34d3a54e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36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4E060-2201-47B5-B988-50874646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C6245-081A-4FDC-A554-F23BF3F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Markets can be loud. Evidence can be quiet.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FBDCE-C491-474F-A8BC-C2B2DCE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The opportunity is the unexplained gap—not raw sentiment.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722B0-B13A-4664-88BE-9C988BB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0D3E-E8E2-410B-AB4F-B8E4466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F0AFF-EBD8-4EF1-AE29-879035A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1F906-50F3-43CC-A93A-610681A1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7A46"/>
                </a:solidFill>
              </a:defRPr>
            </a:pPr>
            <a:r>
              <a:rPr sz="1350" b="1">
                <a:solidFill>
                  <a:srgbClr val="147A46"/>
                </a:solidFill>
              </a:rPr>
              <a:t>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D1054-0713-459D-99CD-BBE22FA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19"/>
                </a:solidFill>
              </a:defRPr>
            </a:pPr>
            <a:r>
              <a:rPr sz="2100" b="1">
                <a:solidFill>
                  <a:srgbClr val="172019"/>
                </a:solidFill>
              </a:rPr>
              <a:t>moves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8F16B-7F65-4803-A2FD-95EE0B6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29A95"/>
                </a:solidFill>
              </a:defRPr>
            </a:pPr>
            <a:r>
              <a:rPr sz="1350" b="1">
                <a:solidFill>
                  <a:srgbClr val="929A95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F4C36-9956-4394-A5DE-8EC32A6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19"/>
                </a:solidFill>
              </a:defRPr>
            </a:pPr>
            <a:r>
              <a:rPr sz="2100" b="1">
                <a:solidFill>
                  <a:srgbClr val="172019"/>
                </a:solidFill>
              </a:rPr>
              <a:t>explains—or fails 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451B8-E4B4-45B7-BFEA-34BDF3C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9A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58963-514F-42D6-808C-3178A29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7A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FB7BB-D487-4751-AEDF-11D4C60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7145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7A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38C53-63C3-41CA-B6C5-4AB9AA8F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23812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7A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89185-209B-4057-B89D-4E3A957A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47A46"/>
                </a:solidFill>
              </a:defRPr>
            </a:pPr>
            <a:r>
              <a:rPr sz="1650" b="1">
                <a:solidFill>
                  <a:srgbClr val="147A46"/>
                </a:solidFill>
              </a:rPr>
              <a:t>CROWD EXCESS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A3E24-E41D-45A5-9D43-4143369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19"/>
                </a:solidFill>
              </a:defRPr>
            </a:pPr>
            <a:r>
              <a:rPr sz="1800" b="0">
                <a:solidFill>
                  <a:srgbClr val="172019"/>
                </a:solidFill>
              </a:rPr>
              <a:t>The agent trades only when attention + price outrun objective news and every deterministic gate passes.</a:t>
            </a:r>
          </a:p>
        </p:txBody>
      </p:sp>
    </p:spTree>
    <p:extLst>
      <p:ext uri="{BB962C8B-B14F-4D97-AF65-F5344CB8AC3E}">
        <p14:creationId xmlns:p14="http://schemas.microsoft.com/office/powerpoint/2010/main" val="524292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DE350-94D1-4284-816E-F78F89C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AN HONEST DATA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F74A-8F4A-4C24-BD16-F61F84AB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Three sources. Three distinct jobs.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9B3C3-809D-4D34-940A-98DE15D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Search attention is a proxy—not community sentiment.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EA12A-3B90-4BEA-96F4-2B920A7B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CEE5-A9B0-4FF1-A364-EE8BCF6A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36BA3-3984-410B-AECD-C06C45DF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1B4F7-FBD2-4FC6-9947-D17E275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A46"/>
                </a:solidFill>
              </a:defRPr>
            </a:pPr>
            <a:r>
              <a:rPr sz="2550" b="1">
                <a:solidFill>
                  <a:srgbClr val="147A4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27B6-A2B0-46DB-A993-04701FD7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19"/>
                </a:solidFill>
              </a:defRPr>
            </a:pPr>
            <a:r>
              <a:rPr sz="2100" b="1">
                <a:solidFill>
                  <a:srgbClr val="172019"/>
                </a:solidFill>
              </a:rPr>
              <a:t>NAVER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C374C-F8D6-4B22-9BA9-A59B34D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Complete-day cross-border search attention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Recent mean vs trailing median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60-day robust z-score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69EA-E013-4294-A290-E91114E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526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DCAFF-FF7B-4C48-A236-48D1B769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52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A46"/>
                </a:solidFill>
              </a:defRPr>
            </a:pPr>
            <a:r>
              <a:rPr sz="2550" b="1">
                <a:solidFill>
                  <a:srgbClr val="147A4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0040A-7E94-4BF6-B0D8-3D8D2E3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19"/>
                </a:solidFill>
              </a:defRPr>
            </a:pPr>
            <a:r>
              <a:rPr sz="2100" b="1">
                <a:solidFill>
                  <a:srgbClr val="172019"/>
                </a:solidFill>
              </a:rPr>
              <a:t>ALPACA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1CA1D-4B47-43D6-B366-32A1EF1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SPY-adjusted move, volume, news and option-chain liquidity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Official paper account + CLI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4C305-769E-464A-9A9F-2B93ADB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BC932-120C-4CED-A5DF-971083B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A46"/>
                </a:solidFill>
              </a:defRPr>
            </a:pPr>
            <a:r>
              <a:rPr sz="2550" b="1">
                <a:solidFill>
                  <a:srgbClr val="147A4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BD0AE-0529-4F17-B4FC-0E323205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19"/>
                </a:solidFill>
              </a:defRPr>
            </a:pPr>
            <a:r>
              <a:rPr sz="2100" b="1">
                <a:solidFill>
                  <a:srgbClr val="172019"/>
                </a:solidFill>
              </a:rPr>
              <a:t>OPENAI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CC6A0-66C7-4574-B92C-57EF7FAB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Strict EvidenceAssessment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Direction · materiality · confidence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Never contracts, size or orders</a:t>
            </a:r>
          </a:p>
        </p:txBody>
      </p:sp>
    </p:spTree>
    <p:extLst>
      <p:ext uri="{BB962C8B-B14F-4D97-AF65-F5344CB8AC3E}">
        <p14:creationId xmlns:p14="http://schemas.microsoft.com/office/powerpoint/2010/main" val="117460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FAA50-FB88-47B0-A0BF-8F7E7C0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THE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CF078-8DE9-4606-9EC0-6B5C9C84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The trade is the residual—not the headline.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36BDE-0B7C-4E5E-908D-E48DF4B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D6143-0A9A-4536-855D-771216BB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EFE18-8DFA-4EDA-9AAF-35AD10E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505A-066B-45DB-9F5E-F1DFDEC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A46"/>
                </a:solidFill>
              </a:defRPr>
            </a:pPr>
            <a:r>
              <a:rPr sz="2550" b="1">
                <a:solidFill>
                  <a:srgbClr val="147A46"/>
                </a:solidFill>
              </a:rPr>
              <a:t>CROWD EXCESS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E62CD-7853-43E1-8CAF-974ED817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68736D"/>
                </a:solidFill>
              </a:defRPr>
            </a:pPr>
            <a:r>
              <a:rPr sz="2850" b="1">
                <a:solidFill>
                  <a:srgbClr val="68736D"/>
                </a:solidFill>
              </a:rPr>
              <a:t>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AE34D-6566-46AC-982E-FF42AED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19"/>
                </a:solidFill>
              </a:defRPr>
            </a:pPr>
            <a:r>
              <a:rPr sz="2550" b="1">
                <a:solidFill>
                  <a:srgbClr val="172019"/>
                </a:solidFill>
              </a:rPr>
              <a:t>SIGNED MOVE ×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6446E-D137-48E6-9637-7BAC4495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36D"/>
                </a:solidFill>
              </a:defRPr>
            </a:pPr>
            <a:r>
              <a:rPr sz="1875" b="0">
                <a:solidFill>
                  <a:srgbClr val="68736D"/>
                </a:solidFill>
              </a:rPr>
              <a:t>−  NEWS DIRECTION × MATERIALITY ×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64CA0-79F4-4EA3-8DD6-72372EBE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AABCA-3A51-4971-9C24-AC2C848E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7A46"/>
                </a:solidFill>
              </a:defRPr>
            </a:pPr>
            <a:r>
              <a:rPr sz="1275" b="1">
                <a:solidFill>
                  <a:srgbClr val="147A46"/>
                </a:solidFill>
              </a:rPr>
              <a:t>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3EAE6-DCB4-485B-ABA7-7F1F093C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19"/>
                </a:solidFill>
              </a:defRPr>
            </a:pPr>
            <a:r>
              <a:rPr sz="1650" b="0">
                <a:solidFill>
                  <a:srgbClr val="172019"/>
                </a:solidFill>
              </a:rPr>
              <a:t>Upside enthusiasm looks excessive → bearish reversal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8FC1D-ED6C-47BE-9534-6FEBA9DE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55900"/>
                </a:solidFill>
              </a:defRPr>
            </a:pPr>
            <a:r>
              <a:rPr sz="1275" b="1">
                <a:solidFill>
                  <a:srgbClr val="855900"/>
                </a:solidFill>
              </a:rPr>
              <a:t>NEGATIVE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D8764-2382-49CC-A7AF-362AC826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19"/>
                </a:solidFill>
              </a:defRPr>
            </a:pPr>
            <a:r>
              <a:rPr sz="1650" b="0">
                <a:solidFill>
                  <a:srgbClr val="172019"/>
                </a:solidFill>
              </a:rPr>
              <a:t>Downside pessimism looks excessive → bullish reversal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8A33A-20E9-4F48-BD74-E3CC132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A46"/>
                </a:solidFill>
              </a:defRPr>
            </a:pPr>
            <a:r>
              <a:rPr sz="1500" b="1">
                <a:solidFill>
                  <a:srgbClr val="147A46"/>
                </a:solidFill>
              </a:rPr>
              <a:t>The model explains evidence. Deterministic code decides eligibility.</a:t>
            </a:r>
          </a:p>
        </p:txBody>
      </p:sp>
    </p:spTree>
    <p:extLst>
      <p:ext uri="{BB962C8B-B14F-4D97-AF65-F5344CB8AC3E}">
        <p14:creationId xmlns:p14="http://schemas.microsoft.com/office/powerpoint/2010/main" val="1395873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D764B-99EF-4409-9C6F-8D62B0F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6C2AA-DD53-4A20-B08F-F853F1C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Every decision becomes an auditable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F38E7-D107-46B0-9C58-57D5463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8B0C7-EB0E-47DF-BB2E-4C72A030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0F53B-DE7C-444B-8636-4874B9C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f3592ec9e424f"/>
          <a:stretch xmlns:a="http://schemas.openxmlformats.org/drawingml/2006/main"/>
        </p:blipFill>
        <p:spPr>
          <a:xfrm xmlns:a="http://schemas.openxmlformats.org/drawingml/2006/main" flipH="0" flipV="0">
            <a:off x="1409700" y="1952625"/>
            <a:ext cx="6781800" cy="4238625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581B4-55B9-4367-8D93-18AC4C8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7A46"/>
                </a:solidFill>
              </a:defRPr>
            </a:pPr>
            <a:r>
              <a:rPr sz="2100" b="1">
                <a:solidFill>
                  <a:srgbClr val="147A4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C3DA5-8FE3-43ED-B376-732E3C2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19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Product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A39C9-56BA-4A44-BADA-A94488F8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7A46"/>
                </a:solidFill>
              </a:defRPr>
            </a:pPr>
            <a:r>
              <a:rPr sz="2100" b="1">
                <a:solidFill>
                  <a:srgbClr val="147A4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FEF8C-7B90-49F5-8B2A-A9DF0AEA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861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Latest sampled verdict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4E498-7053-4B2A-8345-7A42D5A5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434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7A46"/>
                </a:solidFill>
              </a:defRPr>
            </a:pPr>
            <a:r>
              <a:rPr sz="2100" b="1">
                <a:solidFill>
                  <a:srgbClr val="147A46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A919C-129A-4279-BB33-911586D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52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Review the evidence</a:t>
            </a:r>
          </a:p>
        </p:txBody>
      </p:sp>
    </p:spTree>
    <p:extLst>
      <p:ext uri="{BB962C8B-B14F-4D97-AF65-F5344CB8AC3E}">
        <p14:creationId xmlns:p14="http://schemas.microsoft.com/office/powerpoint/2010/main" val="1063564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7D402-4149-4B13-A547-4EEE4FE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EXECUTION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609DC-F2E4-41C2-AFD0-6A47D84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Risk owns the order. The model never does.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9EF6E-6F34-4195-87DA-C03EB18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C3029-EE9E-4476-9D3B-4F1862E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1417-FB23-4489-95DB-7E4866DB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77183-3E9A-45BC-ACC5-EE73076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47A46"/>
                </a:solidFill>
              </a:defRPr>
            </a:pPr>
            <a:r>
              <a:rPr sz="4050" b="1">
                <a:solidFill>
                  <a:srgbClr val="147A46"/>
                </a:solidFill>
              </a:rPr>
              <a:t>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BE45-217B-4F53-892F-BDE3A25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19"/>
                </a:solidFill>
              </a:defRPr>
            </a:pPr>
            <a:r>
              <a:rPr sz="1200" b="1">
                <a:solidFill>
                  <a:srgbClr val="172019"/>
                </a:solidFill>
              </a:rPr>
              <a:t>MAX DEBIT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D26EB-A3A0-4F06-BA00-6C0A862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6D"/>
                </a:solidFill>
              </a:defRPr>
            </a:pPr>
            <a:r>
              <a:rPr sz="1275" b="0">
                <a:solidFill>
                  <a:srgbClr val="68736D"/>
                </a:solidFill>
              </a:rPr>
              <a:t>per 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F6B91-A61A-4A81-8FF7-C9AA75DE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47A46"/>
                </a:solidFill>
              </a:defRPr>
            </a:pPr>
            <a:r>
              <a:rPr sz="4050" b="1">
                <a:solidFill>
                  <a:srgbClr val="147A46"/>
                </a:solidFill>
              </a:rPr>
              <a:t>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DC11-DF12-4E6D-B20F-A70A3DD6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19"/>
                </a:solidFill>
              </a:defRPr>
            </a:pPr>
            <a:r>
              <a:rPr sz="1200" b="1">
                <a:solidFill>
                  <a:srgbClr val="172019"/>
                </a:solidFill>
              </a:rPr>
              <a:t>TOTAL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3CFB4-E89F-42EB-BADB-51DC2559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6D"/>
                </a:solidFill>
              </a:defRPr>
            </a:pPr>
            <a:r>
              <a:rPr sz="1275" b="0">
                <a:solidFill>
                  <a:srgbClr val="68736D"/>
                </a:solidFill>
              </a:rPr>
              <a:t>open premium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5975-01AA-41FE-842B-44AEA9F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47A46"/>
                </a:solidFill>
              </a:defRPr>
            </a:pPr>
            <a:r>
              <a:rPr sz="4050" b="1">
                <a:solidFill>
                  <a:srgbClr val="147A46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C63C7-19ED-498C-B81E-BA794C70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19"/>
                </a:solidFill>
              </a:defRPr>
            </a:pPr>
            <a:r>
              <a:rPr sz="1200" b="1">
                <a:solidFill>
                  <a:srgbClr val="172019"/>
                </a:solidFill>
              </a:rPr>
              <a:t>NEW ATTEMPT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F5BBD-BBE1-4091-89B9-6CB943BE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6D"/>
                </a:solidFill>
              </a:defRPr>
            </a:pPr>
            <a:r>
              <a:rPr sz="1275" b="0">
                <a:solidFill>
                  <a:srgbClr val="68736D"/>
                </a:solidFill>
              </a:rPr>
              <a:t>per trading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4A837-59AC-4449-B272-8CA55C1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47A46"/>
                </a:solidFill>
              </a:defRPr>
            </a:pPr>
            <a:r>
              <a:rPr sz="4050" b="1">
                <a:solidFill>
                  <a:srgbClr val="147A46"/>
                </a:solidFill>
              </a:rPr>
              <a:t>14–30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BEE42-350D-450E-870B-B6A62E52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19"/>
                </a:solidFill>
              </a:defRPr>
            </a:pPr>
            <a:r>
              <a:rPr sz="1200" b="1">
                <a:solidFill>
                  <a:srgbClr val="172019"/>
                </a:solidFill>
              </a:rPr>
              <a:t>DTE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C275D-7AB7-473C-88A4-1D840FA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6D"/>
                </a:solidFill>
              </a:defRPr>
            </a:pPr>
            <a:r>
              <a:rPr sz="1275" b="0">
                <a:solidFill>
                  <a:srgbClr val="68736D"/>
                </a:solidFill>
              </a:rPr>
              <a:t>defined-risk vertical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A0FD1-5634-46DF-856D-CA2C7C24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DAC97-A9C5-4A11-8301-F79D2FF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NO LIVE ENDPOINT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65E90-B5A3-4659-B136-3599620E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NO NAKED 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18D25-5FB4-4783-AE9A-D3C75D7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0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19"/>
                </a:solidFill>
              </a:defRPr>
            </a:pPr>
            <a:r>
              <a:rPr sz="1575" b="1">
                <a:solidFill>
                  <a:srgbClr val="172019"/>
                </a:solidFill>
              </a:rPr>
              <a:t>NO DUPLICATE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BA414-027A-4C07-8EEF-51385DC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6D"/>
                </a:solidFill>
              </a:defRPr>
            </a:pPr>
            <a:r>
              <a:rPr sz="1575" b="0">
                <a:solidFill>
                  <a:srgbClr val="68736D"/>
                </a:solidFill>
              </a:rPr>
              <a:t>Wide quotes, missing Greeks, stale data, account mismatch, loss limits or freeze time → ABSTAIN.</a:t>
            </a:r>
          </a:p>
        </p:txBody>
      </p:sp>
    </p:spTree>
    <p:extLst>
      <p:ext uri="{BB962C8B-B14F-4D97-AF65-F5344CB8AC3E}">
        <p14:creationId xmlns:p14="http://schemas.microsoft.com/office/powerpoint/2010/main" val="222537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F7E12-355D-4005-85B8-63AB261E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VERIFIED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AD9A0-F036-47A3-B01B-7A0B5E6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Seven market-open scans protected capital.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66F67-5BFB-4DCD-BF01-29FB571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6D"/>
                </a:solidFill>
              </a:defRPr>
            </a:pPr>
            <a:r>
              <a:rPr sz="1425" b="0">
                <a:solidFill>
                  <a:srgbClr val="68736D"/>
                </a:solidFill>
              </a:rPr>
              <a:t>Competition evidence | 28 Aug 2026 US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48473-9E3F-4FCB-98DF-800678EE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E4F9B-ADBC-4373-A2E7-D5FA9DF8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5B45F-FBEE-449E-B933-3653DE62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5D6CE-B74D-47CF-92E8-EDAF8D56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855900"/>
                </a:solidFill>
              </a:defRPr>
            </a:pPr>
            <a:r>
              <a:rPr sz="4350" b="1">
                <a:solidFill>
                  <a:srgbClr val="855900"/>
                </a:solidFill>
              </a:rPr>
              <a:t>7 x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7D22B-F4DA-4E98-AFEE-CCC7F50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19"/>
                </a:solidFill>
              </a:defRPr>
            </a:pPr>
            <a:r>
              <a:rPr sz="1800" b="1">
                <a:solidFill>
                  <a:srgbClr val="172019"/>
                </a:solidFill>
              </a:rPr>
              <a:t>SCANS x SYMBOLS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B59F7-A195-4529-9B60-4F23DE43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6D"/>
                </a:solidFill>
              </a:defRPr>
            </a:pPr>
            <a:r>
              <a:rPr sz="1575" b="0">
                <a:solidFill>
                  <a:srgbClr val="68736D"/>
                </a:solidFill>
              </a:rPr>
              <a:t>35 signal snapshots | 30 model assessments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D3662-D85D-402E-8549-29AD8517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FBC14-8BC7-450E-8E91-BA49D27C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7A46"/>
                </a:solidFill>
              </a:defRPr>
            </a:pPr>
            <a:r>
              <a:rPr sz="3600" b="1">
                <a:solidFill>
                  <a:srgbClr val="147A46"/>
                </a:solidFill>
              </a:rPr>
              <a:t>$100,000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6B05-C9E5-4553-9AC2-4FB48773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19"/>
                </a:solidFill>
              </a:defRPr>
            </a:pPr>
            <a:r>
              <a:rPr sz="1275" b="1">
                <a:solidFill>
                  <a:srgbClr val="172019"/>
                </a:solidFill>
              </a:rPr>
              <a:t>EQUITY | $0 P&amp;L | 0 DRAWDOWN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5EDD5-8542-4CC8-A3B6-CDB2945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36D"/>
                </a:solidFill>
              </a:defRPr>
            </a:pPr>
            <a:r>
              <a:rPr sz="1200" b="0">
                <a:solidFill>
                  <a:srgbClr val="68736D"/>
                </a:solidFill>
              </a:rPr>
              <a:t>0 positions | 0 open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ACDEC-9A89-48A5-B2BD-1F54960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48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7A46"/>
                </a:solidFill>
              </a:defRPr>
            </a:pPr>
            <a:r>
              <a:rPr sz="1275" b="1">
                <a:solidFill>
                  <a:srgbClr val="147A46"/>
                </a:solidFill>
              </a:rPr>
              <a:t>No forced trade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EC97B-AA88-4ED6-B6A1-79E86A0A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19"/>
                </a:solidFill>
              </a:defRPr>
            </a:pPr>
            <a:r>
              <a:rPr sz="1650" b="1">
                <a:solidFill>
                  <a:srgbClr val="172019"/>
                </a:solidFill>
              </a:rPr>
              <a:t>No candidate cleared every evidence, liquidity and risk gate. Thresholds stayed fixed.</a:t>
            </a:r>
          </a:p>
        </p:txBody>
      </p:sp>
    </p:spTree>
    <p:extLst>
      <p:ext uri="{BB962C8B-B14F-4D97-AF65-F5344CB8AC3E}">
        <p14:creationId xmlns:p14="http://schemas.microsoft.com/office/powerpoint/2010/main" val="1328966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82F92-5768-47BF-9BDA-1C16601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C5107-263E-47A2-8C9B-9C92528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Failure safety is observable - not silent.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7F67F-C439-4689-8471-8CB9E31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F374B-B093-48DE-97C4-5DBCB96F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B4AD6-725E-4F9C-B175-1EBEE47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C0108-F4BE-4A78-96CB-B2DD3CCD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A46"/>
                </a:solidFill>
              </a:defRPr>
            </a:pPr>
            <a:r>
              <a:rPr sz="1500" b="1">
                <a:solidFill>
                  <a:srgbClr val="147A46"/>
                </a:solidFill>
              </a:rPr>
              <a:t>STRICT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EAA9A-0847-455C-B073-8C35A70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19"/>
                </a:solidFill>
              </a:defRPr>
            </a:pPr>
            <a:r>
              <a:rPr sz="1650" b="0">
                <a:solidFill>
                  <a:srgbClr val="172019"/>
                </a:solidFill>
              </a:rPr>
              <a:t>Strict schema; refusal, timeout or invalid output -&gt; ABSTAIN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FADE1-7C64-4585-8C2E-73D5C255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A46"/>
                </a:solidFill>
              </a:defRPr>
            </a:pPr>
            <a:r>
              <a:rPr sz="1500" b="1">
                <a:solidFill>
                  <a:srgbClr val="147A46"/>
                </a:solidFill>
              </a:rPr>
              <a:t>IDEMPOTENT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57422-84D3-4679-9F27-5D376E0E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19"/>
                </a:solidFill>
              </a:defRPr>
            </a:pPr>
            <a:r>
              <a:rPr sz="1650" b="0">
                <a:solidFill>
                  <a:srgbClr val="172019"/>
                </a:solidFill>
              </a:rPr>
              <a:t>Deterministic ID; timeout -&gt; lookup, never blind retry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2DA43-7F6A-4483-B300-07B54777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A46"/>
                </a:solidFill>
              </a:defRPr>
            </a:pPr>
            <a:r>
              <a:rPr sz="1500" b="1">
                <a:solidFill>
                  <a:srgbClr val="147A46"/>
                </a:solidFill>
              </a:rPr>
              <a:t>WATCHED + DIAGNOSED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B24BF-D49C-4F2E-BFCF-85A3163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19"/>
                </a:solidFill>
              </a:defRPr>
            </a:pPr>
            <a:r>
              <a:rPr sz="1650" b="0">
                <a:solidFill>
                  <a:srgbClr val="172019"/>
                </a:solidFill>
              </a:rPr>
              <a:t>Stale-run watchdog; sanitized option-stage failure codes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1f7c527894282"/>
          <a:stretch xmlns:a="http://schemas.openxmlformats.org/drawingml/2006/main"/>
        </p:blipFill>
        <p:spPr>
          <a:xfrm xmlns:a="http://schemas.openxmlformats.org/drawingml/2006/main" flipH="0" flipV="0">
            <a:off x="8106068" y="1962150"/>
            <a:ext cx="1980613" cy="42862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38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E111D-8276-4982-88FA-5F15C1C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A46"/>
                </a:solidFill>
              </a:defRPr>
            </a:pPr>
            <a:r>
              <a:rPr sz="1050" b="1">
                <a:solidFill>
                  <a:srgbClr val="147A46"/>
                </a:solidFill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76A12-2A94-4E22-9571-2026019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19"/>
                </a:solidFill>
              </a:defRPr>
            </a:pPr>
            <a:r>
              <a:rPr sz="3300" b="1">
                <a:solidFill>
                  <a:srgbClr val="172019"/>
                </a:solidFill>
              </a:rPr>
              <a:t>Trust is the product when an agent can abstain.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8EA8E-23E6-467F-9865-C3F91FB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B0837-6055-4ACB-96E6-3ABA206B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8736D"/>
                </a:solidFill>
              </a:defRPr>
            </a:pPr>
            <a:r>
              <a:rPr sz="975" b="1">
                <a:solidFill>
                  <a:srgbClr val="68736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35789-D1E7-4E27-9A8B-F38BE74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6D"/>
                </a:solidFill>
              </a:defRPr>
            </a:pPr>
            <a:r>
              <a:rPr sz="825" b="1">
                <a:solidFill>
                  <a:srgbClr val="68736D"/>
                </a:solidFill>
              </a:rPr>
              <a:t>CROWD EXCESS AGENT  /  ALPACA PAPER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C5C68-CDF6-4F78-806F-E90F4DE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7A46"/>
                </a:solidFill>
              </a:defRPr>
            </a:pPr>
            <a:r>
              <a:rPr sz="2250" b="1">
                <a:solidFill>
                  <a:srgbClr val="147A4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36B0C-2ED4-401F-87F6-6B139B7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Users: quant researchers, risk reviewers, agent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7CB27-FCB4-4970-B372-56453733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7A46"/>
                </a:solidFill>
              </a:defRPr>
            </a:pPr>
            <a:r>
              <a:rPr sz="2250" b="1">
                <a:solidFill>
                  <a:srgbClr val="147A4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7BDA1-6E7D-4FC6-B444-F7E4190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Problem: opaque AI trades move capital without auditable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1EB64-156F-4EAD-BE11-0FA469E1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7A46"/>
                </a:solidFill>
              </a:defRPr>
            </a:pPr>
            <a:r>
              <a:rPr sz="2250" b="1">
                <a:solidFill>
                  <a:srgbClr val="147A4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282D1-E0FB-4F01-82B9-826E1908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62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Value: inspect fixed gates and abstain when inputs are weak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D4712-2AC3-4940-B414-C4D5F670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754B9-E9B6-4B1F-B25F-256DC14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736D"/>
                </a:solidFill>
              </a:defRPr>
            </a:pPr>
            <a:r>
              <a:rPr sz="1125" b="1">
                <a:solidFill>
                  <a:srgbClr val="68736D"/>
                </a:solidFill>
              </a:rPr>
              <a:t>AUDIT BEFORE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BE7B5-DF46-4AFF-8960-11F8138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00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736D"/>
                </a:solidFill>
              </a:defRPr>
            </a:pPr>
            <a:r>
              <a:rPr sz="1125" b="1">
                <a:solidFill>
                  <a:srgbClr val="68736D"/>
                </a:solidFill>
              </a:rPr>
              <a:t>REPLAYABLE NO-TRADE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2C376-EA64-47FD-B330-78AAEAE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00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736D"/>
                </a:solidFill>
              </a:defRPr>
            </a:pPr>
            <a:r>
              <a:rPr sz="1125" b="1">
                <a:solidFill>
                  <a:srgbClr val="68736D"/>
                </a:solidFill>
              </a:rPr>
              <a:t>SEARCH, NOT SENTIMENT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20EAD-2E1B-42B3-AA9B-9544B6D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00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736D"/>
                </a:solidFill>
              </a:defRPr>
            </a:pPr>
            <a:r>
              <a:rPr sz="1125" b="1">
                <a:solidFill>
                  <a:srgbClr val="68736D"/>
                </a:solidFill>
              </a:rPr>
              <a:t>PAPER-ONLY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4A589-D2CA-4955-BCE5-F9FE49A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A46"/>
                </a:solidFill>
              </a:defRPr>
            </a:pPr>
            <a:r>
              <a:rPr sz="1800" b="1">
                <a:solidFill>
                  <a:srgbClr val="147A46"/>
                </a:solidFill>
              </a:rPr>
              <a:t>crowd-excess-lab.vercel.app</a:t>
            </a:r>
          </a:p>
        </p:txBody>
      </p:sp>
    </p:spTree>
    <p:extLst>
      <p:ext uri="{BB962C8B-B14F-4D97-AF65-F5344CB8AC3E}">
        <p14:creationId xmlns:p14="http://schemas.microsoft.com/office/powerpoint/2010/main" val="1654760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2026-08-29T14:02:03.3880000Z</dcterms:created>
  <dcterms:modified xsi:type="dcterms:W3CDTF">2026-08-29T14:02:03.3880000Z</dcterms:modified>
</coreProperties>
</file>
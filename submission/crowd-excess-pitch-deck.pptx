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3ab0e6bbaf4cbc" /><Relationship Type="http://schemas.openxmlformats.org/officeDocument/2006/relationships/extended-properties" Target="/docProps/app.xml" Id="R498fb5742bcc48c0" /><Relationship Type="http://schemas.openxmlformats.org/officeDocument/2006/relationships/officeDocument" Target="/ppt/presentation.xml" Id="R2d014c3e24db47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bc34bce21a49b4"/>
  </p:sldMasterIdLst>
  <p:notesMasterIdLst>
    <p:notesMasterId xmlns:r="http://schemas.openxmlformats.org/officeDocument/2006/relationships" r:id="R1977725c05344582"/>
  </p:notesMasterIdLst>
  <p:sldIdLst>
    <p:sldId xmlns:r="http://schemas.openxmlformats.org/officeDocument/2006/relationships" id="256" r:id="R34e27ba0bd8343a9"/>
    <p:sldId xmlns:r="http://schemas.openxmlformats.org/officeDocument/2006/relationships" id="257" r:id="R2b5d1aaec4ab4b5b"/>
    <p:sldId xmlns:r="http://schemas.openxmlformats.org/officeDocument/2006/relationships" id="258" r:id="R7b99c392af06443e"/>
    <p:sldId xmlns:r="http://schemas.openxmlformats.org/officeDocument/2006/relationships" id="259" r:id="R7fd25e90909b4279"/>
    <p:sldId xmlns:r="http://schemas.openxmlformats.org/officeDocument/2006/relationships" id="260" r:id="Rdfaae9bb877a4515"/>
    <p:sldId xmlns:r="http://schemas.openxmlformats.org/officeDocument/2006/relationships" id="261" r:id="Rab29d2e2851b4d03"/>
    <p:sldId xmlns:r="http://schemas.openxmlformats.org/officeDocument/2006/relationships" id="262" r:id="Rb3d4cc14e6a546ac"/>
    <p:sldId xmlns:r="http://schemas.openxmlformats.org/officeDocument/2006/relationships" id="263" r:id="Rcf3655dd4a9643b9"/>
    <p:sldId xmlns:r="http://schemas.openxmlformats.org/officeDocument/2006/relationships" id="264" r:id="R3872e019cb2b45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379f3ece2a4beb" /><Relationship Type="http://schemas.openxmlformats.org/officeDocument/2006/relationships/slideMaster" Target="/ppt/slideMasters/slideMaster1.xml" Id="R86bc34bce21a49b4" /><Relationship Type="http://schemas.openxmlformats.org/officeDocument/2006/relationships/notesMaster" Target="/ppt/notesMasters/notesMaster1.xml" Id="R1977725c05344582" /><Relationship Type="http://schemas.openxmlformats.org/officeDocument/2006/relationships/presProps" Target="/ppt/presProps.xml" Id="Rc91661beba5046ce" /><Relationship Type="http://schemas.openxmlformats.org/officeDocument/2006/relationships/tableStyles" Target="/ppt/tableStyles.xml" Id="Rac75fe2a59e74075" /><Relationship Type="http://schemas.openxmlformats.org/officeDocument/2006/relationships/slide" Target="/ppt/slides/slide1.xml" Id="R34e27ba0bd8343a9" /><Relationship Type="http://schemas.openxmlformats.org/officeDocument/2006/relationships/slide" Target="/ppt/slides/slide2.xml" Id="R2b5d1aaec4ab4b5b" /><Relationship Type="http://schemas.openxmlformats.org/officeDocument/2006/relationships/slide" Target="/ppt/slides/slide3.xml" Id="R7b99c392af06443e" /><Relationship Type="http://schemas.openxmlformats.org/officeDocument/2006/relationships/slide" Target="/ppt/slides/slide4.xml" Id="R7fd25e90909b4279" /><Relationship Type="http://schemas.openxmlformats.org/officeDocument/2006/relationships/slide" Target="/ppt/slides/slide5.xml" Id="Rdfaae9bb877a4515" /><Relationship Type="http://schemas.openxmlformats.org/officeDocument/2006/relationships/slide" Target="/ppt/slides/slide6.xml" Id="Rab29d2e2851b4d03" /><Relationship Type="http://schemas.openxmlformats.org/officeDocument/2006/relationships/slide" Target="/ppt/slides/slide7.xml" Id="Rb3d4cc14e6a546ac" /><Relationship Type="http://schemas.openxmlformats.org/officeDocument/2006/relationships/slide" Target="/ppt/slides/slide8.xml" Id="Rcf3655dd4a9643b9" /><Relationship Type="http://schemas.openxmlformats.org/officeDocument/2006/relationships/slide" Target="/ppt/slides/slide9.xml" Id="R3872e019cb2b45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2d9b1ae68946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96577d15ee4747" /><Relationship Type="http://schemas.openxmlformats.org/officeDocument/2006/relationships/notesMaster" Target="/ppt/notesMasters/notesMaster1.xml" Id="R4ea9de685a6c46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a80e5ae7ea49ba" /><Relationship Type="http://schemas.openxmlformats.org/officeDocument/2006/relationships/notesMaster" Target="/ppt/notesMasters/notesMaster1.xml" Id="Rd61bba0135784c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caa8ae8d6e4943" /><Relationship Type="http://schemas.openxmlformats.org/officeDocument/2006/relationships/notesMaster" Target="/ppt/notesMasters/notesMaster1.xml" Id="Rc4ed250fb83540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2f8f1f66644051" /><Relationship Type="http://schemas.openxmlformats.org/officeDocument/2006/relationships/notesMaster" Target="/ppt/notesMasters/notesMaster1.xml" Id="R0c0bb0f69c4d4c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2ac66826a54dae" /><Relationship Type="http://schemas.openxmlformats.org/officeDocument/2006/relationships/notesMaster" Target="/ppt/notesMasters/notesMaster1.xml" Id="Rdb1075faee6942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5e4cb538a24e0a" /><Relationship Type="http://schemas.openxmlformats.org/officeDocument/2006/relationships/notesMaster" Target="/ppt/notesMasters/notesMaster1.xml" Id="R28fef6c8bbc541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1c8bb1294a4457" /><Relationship Type="http://schemas.openxmlformats.org/officeDocument/2006/relationships/notesMaster" Target="/ppt/notesMasters/notesMaster1.xml" Id="R98d3d1395bd44f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0713c2c4e949ed" /><Relationship Type="http://schemas.openxmlformats.org/officeDocument/2006/relationships/notesMaster" Target="/ppt/notesMasters/notesMaster1.xml" Id="R42bd0f362cfb4f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d2466d03d047b5" /><Relationship Type="http://schemas.openxmlformats.org/officeDocument/2006/relationships/notesMaster" Target="/ppt/notesMasters/notesMaster1.xml" Id="R7f9a5adc454b4b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thesis in one sentence. Stress that this is a paper-only agent and that risk—not the model—owns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https://lablab.ai/ai-hackathons/alpaca-ai-trading-agents-hackathon</a:t>
            </a:r>
          </a:p>
          <a:p xmlns:a="http://schemas.openxmlformats.org/drawingml/2006/main">
            <a:r>
              <a:t>- https://crowd-excess-lab.vercel.app/agent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insight as a measurable residual. Avoid claiming that attention alone predicts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https://crowd-excess-lab.vercel.app/strategy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limitation before the advantage: NAVER is relative attention, not post sentiment. Explain that OpenAI is evidence-only.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https://guide.ncloud-docs.com/docs/apihub-searchtrend</a:t>
            </a:r>
          </a:p>
          <a:p xmlns:a="http://schemas.openxmlformats.org/drawingml/2006/main">
            <a:r>
              <a:t>- https://docs.alpaca.markets/us/docs/paper-trading</a:t>
            </a:r>
          </a:p>
          <a:p xmlns:a="http://schemas.openxmlformats.org/drawingml/2006/main">
            <a:r>
              <a:t>- https://developers.openai.com/api/reference/cli/resources/responses/methods/create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a large residual is only a candidate; risk still has veto power.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https://crowd-excess-lab.vercel.app/strategy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public Overview, then use Open latest sampled run to enter the immutable trace.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https://crowd-excess-lab.vercel.app/agent</a:t>
            </a:r>
          </a:p>
          <a:p xmlns:a="http://schemas.openxmlformats.org/drawingml/2006/main">
            <a:r>
              <a:t>- https://crowd-excess-lab.vercel.app/decisions?run=20260828T193701Z-b404b62a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the strategy can make no trade. Explain deterministic client IDs and timeout reconciliation.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https://docs.alpaca.markets/us/docs/options-trading</a:t>
            </a:r>
          </a:p>
          <a:p xmlns:a="http://schemas.openxmlformats.org/drawingml/2006/main">
            <a:r>
              <a:t>- https://github.com/Kachii1020/crowd-excess-lab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verified result exactly: seven market-open shadow scans, five symbols each, no order and no position.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https://crowd-excess-lab.vercel.app/api/v1/agent/runs</a:t>
            </a:r>
          </a:p>
          <a:p xmlns:a="http://schemas.openxmlformats.org/drawingml/2006/main">
            <a:r>
              <a:t>- https://crowd-excess-lab.vercel.app/api/v1/portfolio</a:t>
            </a:r>
          </a:p>
          <a:p xmlns:a="http://schemas.openxmlformats.org/drawingml/2006/main">
            <a:r>
              <a:t>- https://crowd-excess-lab.vercel.app/agent/runs/20260828T193701Z-b404b62a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new provider-boundary failures record sanitized stage/code diagnostics; this historical failure row predates those nullable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https://github.com/Kachii1020/crowd-excess-lab</a:t>
            </a:r>
          </a:p>
          <a:p xmlns:a="http://schemas.openxmlformats.org/drawingml/2006/main">
            <a:r>
              <a:t>- https://docs.github.com/en/actions/reference/workflows-and-actions/events-that-trigger-workflows#schedule</a:t>
            </a:r>
          </a:p>
          <a:p xmlns:a="http://schemas.openxmlformats.org/drawingml/2006/main">
            <a:r>
              <a:t>- https://crowd-excess-lab.vercel.app/agent/runs/20260828T174442Z-d761e38b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user value: inspectability before exposure and reproducible abstention when evidence is insufficient.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https://lablab.ai/ai-hackathons/alpaca-ai-trading-agents-hackathon</a:t>
            </a:r>
          </a:p>
          <a:p xmlns:a="http://schemas.openxmlformats.org/drawingml/2006/main">
            <a:r>
              <a:t>- https://crowd-excess-lab.vercel.app/strategy</a:t>
            </a:r>
          </a:p>
          <a:p xmlns:a="http://schemas.openxmlformats.org/drawingml/2006/main">
            <a:r>
              <a:t>- https://crowd-excess-lab.vercel.app/research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bb8c1c3af8434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08f79c4bd645d6" /><Relationship Type="http://schemas.openxmlformats.org/officeDocument/2006/relationships/slideLayout" Target="/ppt/slideLayouts/slideLayout1.xml" Id="R5c24486076624c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24486076624c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4d83b06b84869" /><Relationship Type="http://schemas.openxmlformats.org/officeDocument/2006/relationships/image" Target="/ppt/media/image.png" Id="R18dd498e454e4fc1" /><Relationship Type="http://schemas.openxmlformats.org/officeDocument/2006/relationships/notesSlide" Target="/ppt/notesSlides/notesSlide1.xml" Id="Rc0ad59d4e0d041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3fcc6898d4266" /><Relationship Type="http://schemas.openxmlformats.org/officeDocument/2006/relationships/notesSlide" Target="/ppt/notesSlides/notesSlide2.xml" Id="Rea94e53dc54c43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52526fbfc4c1e" /><Relationship Type="http://schemas.openxmlformats.org/officeDocument/2006/relationships/notesSlide" Target="/ppt/notesSlides/notesSlide3.xml" Id="Rcac1bb2ae1b34f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e9d868691542bb" /><Relationship Type="http://schemas.openxmlformats.org/officeDocument/2006/relationships/notesSlide" Target="/ppt/notesSlides/notesSlide4.xml" Id="Rc262f512192d4c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15d5357614ca3" /><Relationship Type="http://schemas.openxmlformats.org/officeDocument/2006/relationships/image" Target="/ppt/media/image2.png" Id="Rc669f431c5df46ab" /><Relationship Type="http://schemas.openxmlformats.org/officeDocument/2006/relationships/notesSlide" Target="/ppt/notesSlides/notesSlide5.xml" Id="Rbafcafe230a442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97c616d2aa496b" /><Relationship Type="http://schemas.openxmlformats.org/officeDocument/2006/relationships/notesSlide" Target="/ppt/notesSlides/notesSlide6.xml" Id="R3283ffd43e7d4e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811a938814a5e" /><Relationship Type="http://schemas.openxmlformats.org/officeDocument/2006/relationships/notesSlide" Target="/ppt/notesSlides/notesSlide7.xml" Id="R1892adcca43843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52a9bfe374118" /><Relationship Type="http://schemas.openxmlformats.org/officeDocument/2006/relationships/image" Target="/ppt/media/image3.png" Id="R16ab2cd9163e409b" /><Relationship Type="http://schemas.openxmlformats.org/officeDocument/2006/relationships/notesSlide" Target="/ppt/notesSlides/notesSlide8.xml" Id="R1f30b6dae7234eb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ef319da5d4b2a" /><Relationship Type="http://schemas.openxmlformats.org/officeDocument/2006/relationships/notesSlide" Target="/ppt/notesSlides/notesSlide9.xml" Id="R57d6ad74857a4aa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d498e454e4fc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364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24E060-2201-47B5-B988-50874646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6C6245-081A-4FDC-A554-F23BF3F9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Markets can be loud. Evidence can be quiet.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FBDCE-C491-474F-A8BC-C2B2DCE0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The opportunity is the unexplained gap—not raw sentiment.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3722B0-B13A-4664-88BE-9C988BB3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80D3E-E8E2-410B-AB4F-B8E4466D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0F0AFF-EBD8-4EF1-AE29-879035A7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1F906-50F3-43CC-A93A-610681A1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7A46"/>
                </a:solidFill>
              </a:defRPr>
            </a:pPr>
            <a:r>
              <a:rPr sz="1350" b="1">
                <a:solidFill>
                  <a:srgbClr val="147A46"/>
                </a:solidFill>
              </a:rPr>
              <a:t>ATTENTION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D1054-0713-459D-99CD-BBE22FA6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moves first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8F16B-7F65-4803-A2FD-95EE0B6D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929A95"/>
                </a:solidFill>
              </a:defRPr>
            </a:pPr>
            <a:r>
              <a:rPr sz="1350" b="1">
                <a:solidFill>
                  <a:srgbClr val="929A95"/>
                </a:solidFill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F4C36-9956-4394-A5DE-8EC32A65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explains—or fails 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451B8-E4B4-45B7-BFEA-34BDF3C4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29A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958963-514F-42D6-808C-3178A29C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5FB7BB-D487-4751-AEDF-11D4C60C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71750"/>
            <a:ext cx="171450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38C53-63C3-41CA-B6C5-4AB9AA8F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38375"/>
            <a:ext cx="23812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E89185-209B-4057-B89D-4E3A957A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050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47A46"/>
                </a:solidFill>
              </a:defRPr>
            </a:pPr>
            <a:r>
              <a:rPr sz="1650" b="1">
                <a:solidFill>
                  <a:srgbClr val="147A46"/>
                </a:solidFill>
              </a:rPr>
              <a:t>CROWD EXCESS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9A3E24-E41D-45A5-9D43-4143369F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6572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19"/>
                </a:solidFill>
              </a:defRPr>
            </a:pPr>
            <a:r>
              <a:rPr sz="1800" b="0">
                <a:solidFill>
                  <a:srgbClr val="172019"/>
                </a:solidFill>
              </a:rPr>
              <a:t>The agent trades only when attention + price outrun objective news and every deterministic gate passes.</a:t>
            </a:r>
          </a:p>
        </p:txBody>
      </p:sp>
    </p:spTree>
    <p:extLst>
      <p:ext uri="{BB962C8B-B14F-4D97-AF65-F5344CB8AC3E}">
        <p14:creationId xmlns:p14="http://schemas.microsoft.com/office/powerpoint/2010/main" val="524292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DE350-94D1-4284-816E-F78F89C2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AN HONEST DATA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9F74A-8F4A-4C24-BD16-F61F84AB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Three sources. Three distinct jobs.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B9B3C3-809D-4D34-940A-98DE15DE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Search attention is a proxy—not community sentiment.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EA12A-3B90-4BEA-96F4-2B920A7B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3CEE5-A9B0-4FF1-A364-EE8BCF6A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B36BA3-3984-410B-AECD-C06C45DF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1B4F7-FBD2-4FC6-9947-D17E275D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227B6-A2B0-46DB-A993-04701FD7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NAVER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CC374C-F8D6-4B22-9BA9-A59B34DB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Complete-day cross-border search attention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Recent mean vs trailing median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60-day robust z-score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869EA-E013-4294-A290-E91114E3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15265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DCAFF-FF7B-4C48-A236-48D1B769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0040A-7E94-4BF6-B0D8-3D8D2E37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ALPACA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1CA1D-4B47-43D6-B366-32A1EF1F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SPY-adjusted move, volume, news and option-chain liquidity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Official paper account + CLI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4C305-769E-464A-9A9F-2B93ADB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5265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3BC932-120C-4CED-A5DF-971083B5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2BD0AE-0529-4F17-B4FC-0E323205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OPENAI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6CC6A0-66C7-4574-B92C-57EF7FAB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Strict EvidenceAssessment only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Direction · materiality · confidence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Never contracts, size or orders</a:t>
            </a:r>
          </a:p>
        </p:txBody>
      </p:sp>
    </p:spTree>
    <p:extLst>
      <p:ext uri="{BB962C8B-B14F-4D97-AF65-F5344CB8AC3E}">
        <p14:creationId xmlns:p14="http://schemas.microsoft.com/office/powerpoint/2010/main" val="1174601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FAA50-FB88-47B0-A0BF-8F7E7C0E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SIGNAL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CF078-8DE9-4606-9EC0-6B5C9C84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The trade is the residual—not the headline.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36BDE-0B7C-4E5E-908D-E48DF4B1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D6143-0A9A-4536-855D-771216BB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EFE18-8DFA-4EDA-9AAF-35AD10E8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2505A-066B-45DB-9F5E-F1DFDEC6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CROWD EXCESS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E62CD-7853-43E1-8CAF-974ED817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40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68736D"/>
                </a:solidFill>
              </a:defRPr>
            </a:pPr>
            <a:r>
              <a:rPr sz="2850" b="1">
                <a:solidFill>
                  <a:srgbClr val="68736D"/>
                </a:solidFill>
              </a:rPr>
              <a:t>=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AAE34D-6566-46AC-982E-FF42AED9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09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2019"/>
                </a:solidFill>
              </a:defRPr>
            </a:pPr>
            <a:r>
              <a:rPr sz="2550" b="1">
                <a:solidFill>
                  <a:srgbClr val="172019"/>
                </a:solidFill>
              </a:rPr>
              <a:t>SIGNED MOVE × ATTENTION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D6446E-D137-48E6-9637-7BAC4495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81300"/>
            <a:ext cx="609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8736D"/>
                </a:solidFill>
              </a:defRPr>
            </a:pPr>
            <a:r>
              <a:rPr sz="1875" b="0">
                <a:solidFill>
                  <a:srgbClr val="68736D"/>
                </a:solidFill>
              </a:rPr>
              <a:t>−  NEWS DIRECTION × MATERIALITY × CONFIDENCE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64CA0-79F4-4EA3-8DD6-72372EBE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AABCA-3A51-4971-9C24-AC2C848E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47A46"/>
                </a:solidFill>
              </a:defRPr>
            </a:pPr>
            <a:r>
              <a:rPr sz="1275" b="1">
                <a:solidFill>
                  <a:srgbClr val="147A46"/>
                </a:solidFill>
              </a:rPr>
              <a:t>POSITIVE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63EAE6-DCB4-485B-ABA7-7F1F093C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Upside enthusiasm looks excessive → bearish reversal candidate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68FC1D-ED6C-47BE-9534-6FEBA9DE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855900"/>
                </a:solidFill>
              </a:defRPr>
            </a:pPr>
            <a:r>
              <a:rPr sz="1275" b="1">
                <a:solidFill>
                  <a:srgbClr val="855900"/>
                </a:solidFill>
              </a:rPr>
              <a:t>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D8764-2382-49CC-A7AF-362AC826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Downside pessimism looks excessive → bullish reversal candidate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78A33A-20E9-4F48-BD74-E3CC132C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The model explains evidence. Deterministic code decides eligibility.</a:t>
            </a:r>
          </a:p>
        </p:txBody>
      </p:sp>
    </p:spTree>
    <p:extLst>
      <p:ext uri="{BB962C8B-B14F-4D97-AF65-F5344CB8AC3E}">
        <p14:creationId xmlns:p14="http://schemas.microsoft.com/office/powerpoint/2010/main" val="13958731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DD764B-99EF-4409-9C6F-8D62B0F9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6C2AA-DD53-4A20-B08F-F853F1C8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Every decision becomes an auditable trace.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F38E7-D107-46B0-9C58-57D54636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48B0C7-EB0E-47DF-BB2E-4C72A030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0F53B-DE7C-444B-8636-4874B9CF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69f431c5df46ab"/>
          <a:stretch xmlns:a="http://schemas.openxmlformats.org/drawingml/2006/main"/>
        </p:blipFill>
        <p:spPr>
          <a:xfrm xmlns:a="http://schemas.openxmlformats.org/drawingml/2006/main" flipH="0" flipV="0">
            <a:off x="1409700" y="1952625"/>
            <a:ext cx="6781800" cy="4238625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581B4-55B9-4367-8D93-18AC4C8D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098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C3DA5-8FE3-43ED-B376-732E3C23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193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Latest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A39C9-56BA-4A44-BADA-A94488F8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766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2FEF8C-7B90-49F5-8B2A-A9DF0AEA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861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Latest sampled 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4E498-7053-4B2A-8345-7A42D5A5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434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3A919C-129A-4279-BB33-911586D0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7529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Evidence -&gt; risk -&gt; outcome</a:t>
            </a:r>
          </a:p>
        </p:txBody>
      </p:sp>
    </p:spTree>
    <p:extLst>
      <p:ext uri="{BB962C8B-B14F-4D97-AF65-F5344CB8AC3E}">
        <p14:creationId xmlns:p14="http://schemas.microsoft.com/office/powerpoint/2010/main" val="10635647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37D402-4149-4B13-A547-4EEE4FEE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EXECUTION AUTHORITY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609DC-F2E4-41C2-AFD0-6A47D843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Risk owns the order. The model never does.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D9EF6E-6F34-4195-87DA-C03EB184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C3029-EE9E-4476-9D3B-4F1862E2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01417-FB23-4489-95DB-7E4866DB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377183-3E9A-45BC-ACC5-EE730765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3BE45-217B-4F53-892F-BDE3A25C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MAX DEBIT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D26EB-A3A0-4F06-BA00-6C0A8626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per position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F6B91-A61A-4A81-8FF7-C9AA75DE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4DC11-DF12-4E6D-B20F-A70A3DD6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TOTAL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D3CFB4-E89F-42EB-BADB-51DC2559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open premium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55975-01AA-41FE-842B-44AEA9F9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7C63C7-19ED-498C-B81E-BA794C70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NEW ATTEMPT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F5BBD-BBE1-4091-89B9-6CB943BE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per trading day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84A837-59AC-4449-B272-8CA55C16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14–30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4BEE42-350D-450E-870B-B6A62E52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DTE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5C275D-7AB7-473C-88A4-1D840FAA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defined-risk vertical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FA0FD1-5634-46DF-856D-CA2C7C24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5DAC97-A9C5-4A11-8301-F79D2FF0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LIVE ENDPOINT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165E90-B5A3-4659-B136-3599620E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610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NAKED OPTIONS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418D25-5FB4-4783-AE9A-D3C75D75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01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DUPLICATE RETRY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8BA414-027A-4C07-8EEF-51385DC5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8736D"/>
                </a:solidFill>
              </a:defRPr>
            </a:pPr>
            <a:r>
              <a:rPr sz="1575" b="0">
                <a:solidFill>
                  <a:srgbClr val="68736D"/>
                </a:solidFill>
              </a:rPr>
              <a:t>Wide quotes, missing Greeks, stale data, account mismatch, loss limits or freeze time → ABSTAIN.</a:t>
            </a:r>
          </a:p>
        </p:txBody>
      </p:sp>
    </p:spTree>
    <p:extLst>
      <p:ext uri="{BB962C8B-B14F-4D97-AF65-F5344CB8AC3E}">
        <p14:creationId xmlns:p14="http://schemas.microsoft.com/office/powerpoint/2010/main" val="2225371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3F7E12-355D-4005-85B8-63AB261E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VERIFIED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AD9A0-F036-47A3-B01B-7A0B5E6E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Seven market-open scans protected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866F67-5BFB-4DCD-BF01-29FB5719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Competition evidence | 28 Aug 2026 US session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48473-9E3F-4FCB-98DF-800678EE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E4F9B-ADBC-4373-A2E7-D5FA9DF8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5B45F-FBEE-449E-B933-3653DE62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5D6CE-B74D-47CF-92E8-EDAF8D56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855900"/>
                </a:solidFill>
              </a:defRPr>
            </a:pPr>
            <a:r>
              <a:rPr sz="4350" b="1">
                <a:solidFill>
                  <a:srgbClr val="855900"/>
                </a:solidFill>
              </a:rPr>
              <a:t>7 x 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7D22B-F4DA-4E98-AFEE-CCC7F502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019"/>
                </a:solidFill>
              </a:defRPr>
            </a:pPr>
            <a:r>
              <a:rPr sz="1800" b="1">
                <a:solidFill>
                  <a:srgbClr val="172019"/>
                </a:solidFill>
              </a:rPr>
              <a:t>SCANS x SYMBOLS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B59F7-A195-4529-9B60-4F23DE43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766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8736D"/>
                </a:solidFill>
              </a:defRPr>
            </a:pPr>
            <a:r>
              <a:rPr sz="1575" b="0">
                <a:solidFill>
                  <a:srgbClr val="68736D"/>
                </a:solidFill>
              </a:rPr>
              <a:t>35 structured evidence assessments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D3662-D85D-402E-8549-29AD8517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907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FFBC14-8BC7-450E-8E91-BA49D27C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765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47A46"/>
                </a:solidFill>
              </a:defRPr>
            </a:pPr>
            <a:r>
              <a:rPr sz="3600" b="1">
                <a:solidFill>
                  <a:srgbClr val="147A46"/>
                </a:solidFill>
              </a:rPr>
              <a:t>$100,000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C6B05-C9E5-4553-9AC2-4FB48773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43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19"/>
                </a:solidFill>
              </a:defRPr>
            </a:pPr>
            <a:r>
              <a:rPr sz="1275" b="1">
                <a:solidFill>
                  <a:srgbClr val="172019"/>
                </a:solidFill>
              </a:rPr>
              <a:t>EQUITY | $0 P&amp;L | 0 DRAWDOWN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5EDD5-8542-4CC8-A3B6-CDB29453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385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736D"/>
                </a:solidFill>
              </a:defRPr>
            </a:pPr>
            <a:r>
              <a:rPr sz="1200" b="0">
                <a:solidFill>
                  <a:srgbClr val="68736D"/>
                </a:solidFill>
              </a:rPr>
              <a:t>0 positions | 0 open 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ACDEC-9A89-48A5-B2BD-1F549602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481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47A46"/>
                </a:solidFill>
              </a:defRPr>
            </a:pPr>
            <a:r>
              <a:rPr sz="1275" b="1">
                <a:solidFill>
                  <a:srgbClr val="147A46"/>
                </a:solidFill>
              </a:rPr>
              <a:t>No forced trade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EC97B-AA88-4ED6-B6A1-79E86A0A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019"/>
                </a:solidFill>
              </a:defRPr>
            </a:pPr>
            <a:r>
              <a:rPr sz="1650" b="1">
                <a:solidFill>
                  <a:srgbClr val="172019"/>
                </a:solidFill>
              </a:rPr>
              <a:t>No candidate cleared every evidence, liquidity and risk gate. Thresholds stayed fixed.</a:t>
            </a:r>
          </a:p>
        </p:txBody>
      </p:sp>
    </p:spTree>
    <p:extLst>
      <p:ext uri="{BB962C8B-B14F-4D97-AF65-F5344CB8AC3E}">
        <p14:creationId xmlns:p14="http://schemas.microsoft.com/office/powerpoint/2010/main" val="13289661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582F92-5768-47BF-9BDA-1C166011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RELIABILITY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C5107-263E-47A2-8C9B-9C92528B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Failure safety is observable - not silent.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7F67F-C439-4689-8471-8CB9E312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CF374B-B093-48DE-97C4-5DBCB96F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B4AD6-725E-4F9C-B175-1EBEE477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3C0108-F4BE-4A78-96CB-B2DD3CCD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STRICT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EAA9A-0847-455C-B073-8C35A705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Strict schema; refusal, timeout or invalid output -&gt; ABSTAIN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FADE1-7C64-4585-8C2E-73D5C255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IDEMPOTENT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57422-84D3-4679-9F27-5D376E0E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Deterministic ID; timeout -&gt; lookup, never blind retry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2DA43-7F6A-4483-B300-07B54777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WATCHED + DIAGNOSED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8B24BF-D49C-4F2E-BFCF-85A31639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Stale-run watchdog; sanitized option-stage failure codes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ab2cd9163e409b"/>
          <a:stretch xmlns:a="http://schemas.openxmlformats.org/drawingml/2006/main"/>
        </p:blipFill>
        <p:spPr>
          <a:xfrm xmlns:a="http://schemas.openxmlformats.org/drawingml/2006/main" flipH="0" flipV="0">
            <a:off x="8106068" y="1962150"/>
            <a:ext cx="1980613" cy="42862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6017385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EE111D-8276-4982-88FA-5F15C1C2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BUSINESS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76A12-2A94-4E22-9571-20260190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Trust is the product when an agent can abstain.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48EA8E-23E6-467F-9865-C3F91FB5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B0837-6055-4ACB-96E6-3ABA206B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35789-D1E7-4E27-9A8B-F38BE74A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C5C68-CDF6-4F78-806F-E90F4DE7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36B0C-2ED4-401F-87F6-6B139B7D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479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Users: quant researchers, risk reviewers, agent operators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57CB27-FCB4-4970-B372-56453733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7BDA1-6E7D-4FC6-B444-F7E41901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051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Problem: opaque AI trades move capital without auditable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71EB64-156F-4EAD-BE11-0FA469E1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282D1-E0FB-4F01-82B9-826E1908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624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Value: inspect fixed gates and abstain when inputs are weak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D4712-2AC3-4940-B414-C4D5F670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754B9-E9B6-4B1F-B25F-256DC141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AUDIT BEFORE ORDER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BE7B5-DF46-4AFF-8960-11F8138C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REPLAYABLE NO-TRADE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D2C376-EA64-47FD-B330-78AAEAE8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SEARCH, NOT SENTIMENT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520EAD-2E1B-42B3-AA9B-9544B6D1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PAPER-ONLY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D4A589-D2CA-4955-BCE5-F9FE49A3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7A46"/>
                </a:solidFill>
              </a:defRPr>
            </a:pPr>
            <a:r>
              <a:rPr sz="1800" b="1">
                <a:solidFill>
                  <a:srgbClr val="147A46"/>
                </a:solidFill>
              </a:rPr>
              <a:t>crowd-excess-lab.vercel.app</a:t>
            </a:r>
          </a:p>
        </p:txBody>
      </p:sp>
    </p:spTree>
    <p:extLst>
      <p:ext uri="{BB962C8B-B14F-4D97-AF65-F5344CB8AC3E}">
        <p14:creationId xmlns:p14="http://schemas.microsoft.com/office/powerpoint/2010/main" val="16547601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2026-08-29T08:26:45.7070000Z</dcterms:created>
  <dcterms:modified xsi:type="dcterms:W3CDTF">2026-08-29T08:26:45.7070000Z</dcterms:modified>
</coreProperties>
</file>